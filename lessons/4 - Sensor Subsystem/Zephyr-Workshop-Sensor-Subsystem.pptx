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</p:sldMasterIdLst>
  <p:notesMasterIdLst>
    <p:notesMasterId r:id="rId15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C2D0D02-8ED9-411F-93A4-09255F4FDF1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2160DFC-C7CC-4538-91D4-AD9C5BEF449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8E6FC1-872C-4600-B71C-640AD2B8964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0E67B6-EC39-4803-983B-45CDBCF1FF1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98F441-9FAA-4A15-A777-8E8CD8DACB8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F733665-EF5F-4E86-808F-FC750971E62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389C67-DD8C-431A-BF39-51C2F4B28A1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E6C927F-4665-4589-ACDD-429DD74A5C6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B4ACA7-3E69-4388-9D8D-1232450137E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515630-6075-4133-B41B-13535946C7E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7E68F4-D512-45BA-95D1-21F96708C34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1708BD0-51BA-40CD-9502-2F8524B2068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28A4F5D-0CBF-4D5D-854A-7D50D7F1D05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1;p14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1" name="Google Shape;12;p14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" name="Google Shape;13;p14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47;p23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6" name="Google Shape;48;p23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" name="Google Shape;49;p23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51;p24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11" name="Google Shape;52;p24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" name="Google Shape;53;p24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55;p25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16" name="Google Shape;56;p25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" name="Google Shape;57;p25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15;p15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21" name="Google Shape;16;p15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" name="Google Shape;17;p15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19;p16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26" name="Google Shape;20;p16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" name="Google Shape;21;p16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23;p17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31" name="Google Shape;24;p17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" name="Google Shape;25;p17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5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27;p18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36" name="Google Shape;28;p18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" name="Google Shape;29;p18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5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31;p19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41" name="Google Shape;32;p19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2" name="Google Shape;33;p19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5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35;p2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46" name="Google Shape;36;p2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" name="Google Shape;37;p20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5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39;p2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51" name="Google Shape;40;p2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2" name="Google Shape;41;p2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5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43;p22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56" name="Google Shape;44;p22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7" name="Google Shape;45;p22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4;p1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67" name="Google Shape;65;p1"/>
          <p:cNvSpPr/>
          <p:nvPr/>
        </p:nvSpPr>
        <p:spPr>
          <a:xfrm>
            <a:off x="6367320" y="2622240"/>
            <a:ext cx="7381440" cy="13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0fcff"/>
                </a:solidFill>
                <a:latin typeface="Spline Sans"/>
                <a:ea typeface="Spline Sans"/>
              </a:rPr>
              <a:t>Zephyr Workshop - Sensor Subsystem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Google Shape;66;p1"/>
          <p:cNvSpPr/>
          <p:nvPr/>
        </p:nvSpPr>
        <p:spPr>
          <a:xfrm>
            <a:off x="6367320" y="4398480"/>
            <a:ext cx="7381440" cy="12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A comprehensive introduction to Zephyr's sensor abstraction layer, featuring practical implementation with the TMP102 temperature sensor.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72;p2"/>
          <p:cNvSpPr/>
          <p:nvPr/>
        </p:nvSpPr>
        <p:spPr>
          <a:xfrm>
            <a:off x="834840" y="655920"/>
            <a:ext cx="670896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0fcff"/>
                </a:solidFill>
                <a:latin typeface="Spline Sans"/>
                <a:ea typeface="Spline Sans"/>
              </a:rPr>
              <a:t>What is the Sensor Subsystem?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Google Shape;73;p2"/>
          <p:cNvSpPr/>
          <p:nvPr/>
        </p:nvSpPr>
        <p:spPr>
          <a:xfrm>
            <a:off x="834840" y="1458360"/>
            <a:ext cx="62910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e0e4e6"/>
                </a:solidFill>
                <a:latin typeface="Barlow"/>
                <a:ea typeface="Barlow"/>
              </a:rPr>
              <a:t>The Sensor Subsystem in Zephyr RTOS provides: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Google Shape;74;p2"/>
          <p:cNvSpPr/>
          <p:nvPr/>
        </p:nvSpPr>
        <p:spPr>
          <a:xfrm>
            <a:off x="834840" y="2109600"/>
            <a:ext cx="348120" cy="348120"/>
          </a:xfrm>
          <a:prstGeom prst="roundRect">
            <a:avLst>
              <a:gd name="adj" fmla="val 66685"/>
            </a:avLst>
          </a:prstGeom>
          <a:solidFill>
            <a:srgbClr val="0a081b"/>
          </a:solidFill>
          <a:ln w="15225">
            <a:solidFill>
              <a:srgbClr val="16ff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Google Shape;75;p2"/>
          <p:cNvSpPr/>
          <p:nvPr/>
        </p:nvSpPr>
        <p:spPr>
          <a:xfrm>
            <a:off x="1338480" y="2159640"/>
            <a:ext cx="5787360" cy="49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e0e4e6"/>
                </a:solidFill>
                <a:latin typeface="Barlow"/>
                <a:ea typeface="Barlow"/>
              </a:rPr>
              <a:t>A generic interface to interact with various sensor hardware regardless of manufacturer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Google Shape;76;p2"/>
          <p:cNvSpPr/>
          <p:nvPr/>
        </p:nvSpPr>
        <p:spPr>
          <a:xfrm>
            <a:off x="834840" y="3346920"/>
            <a:ext cx="348120" cy="348120"/>
          </a:xfrm>
          <a:prstGeom prst="roundRect">
            <a:avLst>
              <a:gd name="adj" fmla="val 66685"/>
            </a:avLst>
          </a:prstGeom>
          <a:solidFill>
            <a:srgbClr val="0a081b"/>
          </a:solidFill>
          <a:ln w="15225">
            <a:solidFill>
              <a:srgbClr val="29dd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Google Shape;77;p2"/>
          <p:cNvSpPr/>
          <p:nvPr/>
        </p:nvSpPr>
        <p:spPr>
          <a:xfrm>
            <a:off x="1338480" y="3321000"/>
            <a:ext cx="578736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e0e4e6"/>
                </a:solidFill>
                <a:latin typeface="Barlow"/>
                <a:ea typeface="Barlow"/>
              </a:rPr>
              <a:t>Portable application code that works across different sensor implementations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Google Shape;78;p2"/>
          <p:cNvSpPr/>
          <p:nvPr/>
        </p:nvSpPr>
        <p:spPr>
          <a:xfrm>
            <a:off x="834840" y="4538880"/>
            <a:ext cx="348120" cy="348120"/>
          </a:xfrm>
          <a:prstGeom prst="roundRect">
            <a:avLst>
              <a:gd name="adj" fmla="val 66685"/>
            </a:avLst>
          </a:prstGeom>
          <a:solidFill>
            <a:srgbClr val="0a081b"/>
          </a:solidFill>
          <a:ln w="15225">
            <a:solidFill>
              <a:srgbClr val="37a7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Google Shape;79;p2"/>
          <p:cNvSpPr/>
          <p:nvPr/>
        </p:nvSpPr>
        <p:spPr>
          <a:xfrm>
            <a:off x="1338480" y="4589280"/>
            <a:ext cx="578736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e0e4e6"/>
                </a:solidFill>
                <a:latin typeface="Barlow"/>
                <a:ea typeface="Barlow"/>
              </a:rPr>
              <a:t>Unified API for accelerometers, gyroscopes, temperature sensors, and many more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7" name="Google Shape;80;p2" descr="preencoded.png"/>
          <p:cNvPicPr/>
          <p:nvPr/>
        </p:nvPicPr>
        <p:blipFill>
          <a:blip r:embed="rId1"/>
          <a:stretch/>
        </p:blipFill>
        <p:spPr>
          <a:xfrm>
            <a:off x="7511760" y="1569600"/>
            <a:ext cx="6291000" cy="6291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86;p3"/>
          <p:cNvSpPr/>
          <p:nvPr/>
        </p:nvSpPr>
        <p:spPr>
          <a:xfrm>
            <a:off x="880920" y="1359000"/>
            <a:ext cx="7348680" cy="6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0fcff"/>
                </a:solidFill>
                <a:latin typeface="Spline Sans"/>
                <a:ea typeface="Spline Sans"/>
              </a:rPr>
              <a:t>Why Abstraction Matters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9" name="Google Shape;87;p3" descr="preencoded.png"/>
          <p:cNvPicPr/>
          <p:nvPr/>
        </p:nvPicPr>
        <p:blipFill>
          <a:blip r:embed="rId1"/>
          <a:stretch/>
        </p:blipFill>
        <p:spPr>
          <a:xfrm>
            <a:off x="880920" y="2561760"/>
            <a:ext cx="4289040" cy="1006560"/>
          </a:xfrm>
          <a:prstGeom prst="rect">
            <a:avLst/>
          </a:prstGeom>
          <a:ln w="0">
            <a:noFill/>
          </a:ln>
        </p:spPr>
      </p:pic>
      <p:sp>
        <p:nvSpPr>
          <p:cNvPr id="80" name="Google Shape;88;p3"/>
          <p:cNvSpPr/>
          <p:nvPr/>
        </p:nvSpPr>
        <p:spPr>
          <a:xfrm>
            <a:off x="1132920" y="3820320"/>
            <a:ext cx="2796840" cy="3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e4e6"/>
                </a:solidFill>
                <a:latin typeface="Spline Sans"/>
                <a:ea typeface="Spline Sans"/>
              </a:rPr>
              <a:t>Vendor-Agnostic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Google Shape;89;p3"/>
          <p:cNvSpPr/>
          <p:nvPr/>
        </p:nvSpPr>
        <p:spPr>
          <a:xfrm>
            <a:off x="1132920" y="4321080"/>
            <a:ext cx="3785760" cy="12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Switch between sensor hardware without rewriting application logic, enabling easy hardware upgrades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2" name="Google Shape;90;p3" descr="preencoded.png"/>
          <p:cNvPicPr/>
          <p:nvPr/>
        </p:nvPicPr>
        <p:blipFill>
          <a:blip r:embed="rId2"/>
          <a:stretch/>
        </p:blipFill>
        <p:spPr>
          <a:xfrm>
            <a:off x="5170320" y="2561760"/>
            <a:ext cx="4289040" cy="1006560"/>
          </a:xfrm>
          <a:prstGeom prst="rect">
            <a:avLst/>
          </a:prstGeom>
          <a:ln w="0">
            <a:noFill/>
          </a:ln>
        </p:spPr>
      </p:pic>
      <p:sp>
        <p:nvSpPr>
          <p:cNvPr id="83" name="Google Shape;91;p3"/>
          <p:cNvSpPr/>
          <p:nvPr/>
        </p:nvSpPr>
        <p:spPr>
          <a:xfrm>
            <a:off x="5421960" y="3820320"/>
            <a:ext cx="385920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e4e6"/>
                </a:solidFill>
                <a:latin typeface="Spline Sans"/>
                <a:ea typeface="Spline Sans"/>
              </a:rPr>
              <a:t>Simplified Architecture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Google Shape;92;p3"/>
          <p:cNvSpPr/>
          <p:nvPr/>
        </p:nvSpPr>
        <p:spPr>
          <a:xfrm>
            <a:off x="5421960" y="4321080"/>
            <a:ext cx="3785760" cy="12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Reduces complexity in the application layer by hiding implementation details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5" name="Google Shape;93;p3" descr="preencoded.png"/>
          <p:cNvPicPr/>
          <p:nvPr/>
        </p:nvPicPr>
        <p:blipFill>
          <a:blip r:embed="rId3"/>
          <a:stretch/>
        </p:blipFill>
        <p:spPr>
          <a:xfrm>
            <a:off x="9459720" y="2561760"/>
            <a:ext cx="4289040" cy="1006560"/>
          </a:xfrm>
          <a:prstGeom prst="rect">
            <a:avLst/>
          </a:prstGeom>
          <a:ln w="0">
            <a:noFill/>
          </a:ln>
        </p:spPr>
      </p:pic>
      <p:sp>
        <p:nvSpPr>
          <p:cNvPr id="86" name="Google Shape;94;p3"/>
          <p:cNvSpPr/>
          <p:nvPr/>
        </p:nvSpPr>
        <p:spPr>
          <a:xfrm>
            <a:off x="9711720" y="3820320"/>
            <a:ext cx="2796840" cy="3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e4e6"/>
                </a:solidFill>
                <a:latin typeface="Spline Sans"/>
                <a:ea typeface="Spline Sans"/>
              </a:rPr>
              <a:t>Consistent Pattern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Google Shape;95;p3"/>
          <p:cNvSpPr/>
          <p:nvPr/>
        </p:nvSpPr>
        <p:spPr>
          <a:xfrm>
            <a:off x="9711720" y="4321080"/>
            <a:ext cx="3785760" cy="8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Universal workflow: fetch → get channel → process data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Google Shape;96;p3"/>
          <p:cNvSpPr/>
          <p:nvPr/>
        </p:nvSpPr>
        <p:spPr>
          <a:xfrm>
            <a:off x="880920" y="6460560"/>
            <a:ext cx="12867840" cy="8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This abstraction is particularly valuable in embedded systems where hardware configurations change frequently during development.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102;p4"/>
          <p:cNvSpPr/>
          <p:nvPr/>
        </p:nvSpPr>
        <p:spPr>
          <a:xfrm>
            <a:off x="834840" y="655920"/>
            <a:ext cx="556596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0fcff"/>
                </a:solidFill>
                <a:latin typeface="Spline Sans"/>
                <a:ea typeface="Spline Sans"/>
              </a:rPr>
              <a:t>Sensor Driver API Overview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0" name="Google Shape;103;p4" descr="preencoded.png"/>
          <p:cNvPicPr/>
          <p:nvPr/>
        </p:nvPicPr>
        <p:blipFill>
          <a:blip r:embed="rId1"/>
          <a:stretch/>
        </p:blipFill>
        <p:spPr>
          <a:xfrm>
            <a:off x="834840" y="1493280"/>
            <a:ext cx="387360" cy="387360"/>
          </a:xfrm>
          <a:prstGeom prst="rect">
            <a:avLst/>
          </a:prstGeom>
          <a:ln w="0">
            <a:noFill/>
          </a:ln>
        </p:spPr>
      </p:pic>
      <p:sp>
        <p:nvSpPr>
          <p:cNvPr id="91" name="Google Shape;104;p4"/>
          <p:cNvSpPr/>
          <p:nvPr/>
        </p:nvSpPr>
        <p:spPr>
          <a:xfrm>
            <a:off x="1415880" y="1585440"/>
            <a:ext cx="384192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2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e4e6"/>
                </a:solidFill>
                <a:latin typeface="Spline Sans"/>
                <a:ea typeface="Spline Sans"/>
              </a:rPr>
              <a:t>sensor_sample_fetch()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Google Shape;105;p4"/>
          <p:cNvSpPr/>
          <p:nvPr/>
        </p:nvSpPr>
        <p:spPr>
          <a:xfrm>
            <a:off x="1415880" y="1955880"/>
            <a:ext cx="57096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e0e4e6"/>
                </a:solidFill>
                <a:latin typeface="Barlow"/>
                <a:ea typeface="Barlow"/>
              </a:rPr>
              <a:t>Initiates a sensor reading operation, gathering fresh data from the hardware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3" name="Google Shape;106;p4" descr="preencoded.png"/>
          <p:cNvPicPr/>
          <p:nvPr/>
        </p:nvPicPr>
        <p:blipFill>
          <a:blip r:embed="rId2"/>
          <a:stretch/>
        </p:blipFill>
        <p:spPr>
          <a:xfrm>
            <a:off x="834840" y="2972160"/>
            <a:ext cx="387360" cy="387360"/>
          </a:xfrm>
          <a:prstGeom prst="rect">
            <a:avLst/>
          </a:prstGeom>
          <a:ln w="0">
            <a:noFill/>
          </a:ln>
        </p:spPr>
      </p:pic>
      <p:sp>
        <p:nvSpPr>
          <p:cNvPr id="94" name="Google Shape;107;p4"/>
          <p:cNvSpPr/>
          <p:nvPr/>
        </p:nvSpPr>
        <p:spPr>
          <a:xfrm>
            <a:off x="1415880" y="3064320"/>
            <a:ext cx="31194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2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e4e6"/>
                </a:solidFill>
                <a:latin typeface="Spline Sans"/>
                <a:ea typeface="Spline Sans"/>
              </a:rPr>
              <a:t>sensor_channel_get()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Google Shape;108;p4"/>
          <p:cNvSpPr/>
          <p:nvPr/>
        </p:nvSpPr>
        <p:spPr>
          <a:xfrm>
            <a:off x="1415880" y="3434760"/>
            <a:ext cx="570996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e0e4e6"/>
                </a:solidFill>
                <a:latin typeface="Barlow"/>
                <a:ea typeface="Barlow"/>
              </a:rPr>
              <a:t>Retrieves specific channel values from the most recent fetch operation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6" name="Google Shape;109;p4" descr="preencoded.png"/>
          <p:cNvPicPr/>
          <p:nvPr/>
        </p:nvPicPr>
        <p:blipFill>
          <a:blip r:embed="rId3"/>
          <a:stretch/>
        </p:blipFill>
        <p:spPr>
          <a:xfrm>
            <a:off x="834840" y="4679640"/>
            <a:ext cx="387360" cy="387360"/>
          </a:xfrm>
          <a:prstGeom prst="rect">
            <a:avLst/>
          </a:prstGeom>
          <a:ln w="0">
            <a:noFill/>
          </a:ln>
        </p:spPr>
      </p:pic>
      <p:sp>
        <p:nvSpPr>
          <p:cNvPr id="97" name="Google Shape;110;p4"/>
          <p:cNvSpPr/>
          <p:nvPr/>
        </p:nvSpPr>
        <p:spPr>
          <a:xfrm>
            <a:off x="1415880" y="4771800"/>
            <a:ext cx="37036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2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e4e6"/>
                </a:solidFill>
                <a:latin typeface="Spline Sans"/>
                <a:ea typeface="Spline Sans"/>
              </a:rPr>
              <a:t>sensor_attr_set()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Google Shape;111;p4"/>
          <p:cNvSpPr/>
          <p:nvPr/>
        </p:nvSpPr>
        <p:spPr>
          <a:xfrm>
            <a:off x="1415880" y="5142240"/>
            <a:ext cx="570996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e0e4e6"/>
                </a:solidFill>
                <a:latin typeface="Barlow"/>
                <a:ea typeface="Barlow"/>
              </a:rPr>
              <a:t>Optional: Configure sensor attributes like scale, frequency, and sensitivity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9" name="Google Shape;112;p4" descr="preencoded.png"/>
          <p:cNvPicPr/>
          <p:nvPr/>
        </p:nvPicPr>
        <p:blipFill>
          <a:blip r:embed="rId4"/>
          <a:stretch/>
        </p:blipFill>
        <p:spPr>
          <a:xfrm>
            <a:off x="834840" y="6311160"/>
            <a:ext cx="387360" cy="387360"/>
          </a:xfrm>
          <a:prstGeom prst="rect">
            <a:avLst/>
          </a:prstGeom>
          <a:ln w="0">
            <a:noFill/>
          </a:ln>
        </p:spPr>
      </p:pic>
      <p:sp>
        <p:nvSpPr>
          <p:cNvPr id="100" name="Google Shape;113;p4"/>
          <p:cNvSpPr/>
          <p:nvPr/>
        </p:nvSpPr>
        <p:spPr>
          <a:xfrm>
            <a:off x="1415880" y="6402960"/>
            <a:ext cx="30258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2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e4e6"/>
                </a:solidFill>
                <a:latin typeface="Spline Sans"/>
                <a:ea typeface="Spline Sans"/>
              </a:rPr>
              <a:t>sensor_trigger_set()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Google Shape;114;p4"/>
          <p:cNvSpPr/>
          <p:nvPr/>
        </p:nvSpPr>
        <p:spPr>
          <a:xfrm>
            <a:off x="1415880" y="6773400"/>
            <a:ext cx="570996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e0e4e6"/>
                </a:solidFill>
                <a:latin typeface="Barlow"/>
                <a:ea typeface="Barlow"/>
              </a:rPr>
              <a:t>Registers interrupt handlers or polling callbacks for sensor events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2" name="Google Shape;115;p4" descr="preencoded.png"/>
          <p:cNvPicPr/>
          <p:nvPr/>
        </p:nvPicPr>
        <p:blipFill>
          <a:blip r:embed="rId5"/>
          <a:stretch/>
        </p:blipFill>
        <p:spPr>
          <a:xfrm>
            <a:off x="7511760" y="1493280"/>
            <a:ext cx="6291000" cy="6291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21;p5"/>
          <p:cNvSpPr/>
          <p:nvPr/>
        </p:nvSpPr>
        <p:spPr>
          <a:xfrm>
            <a:off x="985320" y="686880"/>
            <a:ext cx="7472880" cy="69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4350" spc="-1" strike="noStrike">
                <a:solidFill>
                  <a:srgbClr val="f0fcff"/>
                </a:solidFill>
                <a:latin typeface="Spline Sans"/>
                <a:ea typeface="Spline Sans"/>
              </a:rPr>
              <a:t>Zephyr Sensor Channels</a:t>
            </a:r>
            <a:endParaRPr b="0" lang="en-US" sz="4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Google Shape;122;p5"/>
          <p:cNvSpPr/>
          <p:nvPr/>
        </p:nvSpPr>
        <p:spPr>
          <a:xfrm>
            <a:off x="873000" y="1878840"/>
            <a:ext cx="128840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8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Zephyr defines standard channel types that represent different sensor measurements: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Google Shape;123;p5"/>
          <p:cNvSpPr/>
          <p:nvPr/>
        </p:nvSpPr>
        <p:spPr>
          <a:xfrm>
            <a:off x="873000" y="2558520"/>
            <a:ext cx="4128120" cy="2200320"/>
          </a:xfrm>
          <a:prstGeom prst="roundRect">
            <a:avLst>
              <a:gd name="adj" fmla="val 17003"/>
            </a:avLst>
          </a:prstGeom>
          <a:solidFill>
            <a:srgbClr val="0a081b"/>
          </a:solidFill>
          <a:ln w="30475">
            <a:solidFill>
              <a:srgbClr val="16ff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Google Shape;124;p5"/>
          <p:cNvSpPr/>
          <p:nvPr/>
        </p:nvSpPr>
        <p:spPr>
          <a:xfrm>
            <a:off x="1153080" y="2838600"/>
            <a:ext cx="3568320" cy="69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150" spc="-1" strike="noStrike">
                <a:solidFill>
                  <a:srgbClr val="e0e4e6"/>
                </a:solidFill>
                <a:latin typeface="Spline Sans"/>
                <a:ea typeface="Spline Sans"/>
              </a:rPr>
              <a:t>SENSOR_CHAN_ACCEL_XYZ</a:t>
            </a:r>
            <a:endParaRPr b="0" lang="en-US" sz="2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Google Shape;125;p5"/>
          <p:cNvSpPr/>
          <p:nvPr/>
        </p:nvSpPr>
        <p:spPr>
          <a:xfrm>
            <a:off x="1153080" y="3681000"/>
            <a:ext cx="3568320" cy="79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8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3-axis acceleration data, typically in m/s²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Google Shape;126;p5"/>
          <p:cNvSpPr/>
          <p:nvPr/>
        </p:nvSpPr>
        <p:spPr>
          <a:xfrm>
            <a:off x="5250960" y="2558520"/>
            <a:ext cx="4128120" cy="2200320"/>
          </a:xfrm>
          <a:prstGeom prst="roundRect">
            <a:avLst>
              <a:gd name="adj" fmla="val 17003"/>
            </a:avLst>
          </a:prstGeom>
          <a:solidFill>
            <a:srgbClr val="0a081b"/>
          </a:solidFill>
          <a:ln w="30475">
            <a:solidFill>
              <a:srgbClr val="29dd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Google Shape;127;p5"/>
          <p:cNvSpPr/>
          <p:nvPr/>
        </p:nvSpPr>
        <p:spPr>
          <a:xfrm>
            <a:off x="5530680" y="2838600"/>
            <a:ext cx="40982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150" spc="-1" strike="noStrike">
                <a:solidFill>
                  <a:srgbClr val="e0e4e6"/>
                </a:solidFill>
                <a:latin typeface="Spline Sans"/>
                <a:ea typeface="Spline Sans"/>
              </a:rPr>
              <a:t>SENSOR_CHAN_GYRO_XYZ</a:t>
            </a:r>
            <a:endParaRPr b="0" lang="en-US" sz="2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Google Shape;128;p5"/>
          <p:cNvSpPr/>
          <p:nvPr/>
        </p:nvSpPr>
        <p:spPr>
          <a:xfrm>
            <a:off x="5530680" y="3334680"/>
            <a:ext cx="3568320" cy="79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8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3-axis angular velocity, typically in rad/s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Google Shape;129;p5"/>
          <p:cNvSpPr/>
          <p:nvPr/>
        </p:nvSpPr>
        <p:spPr>
          <a:xfrm>
            <a:off x="9628920" y="2558520"/>
            <a:ext cx="4128120" cy="2200320"/>
          </a:xfrm>
          <a:prstGeom prst="roundRect">
            <a:avLst>
              <a:gd name="adj" fmla="val 17003"/>
            </a:avLst>
          </a:prstGeom>
          <a:solidFill>
            <a:srgbClr val="0a081b"/>
          </a:solidFill>
          <a:ln w="30475">
            <a:solidFill>
              <a:srgbClr val="37a7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Google Shape;130;p5"/>
          <p:cNvSpPr/>
          <p:nvPr/>
        </p:nvSpPr>
        <p:spPr>
          <a:xfrm>
            <a:off x="9908640" y="2838600"/>
            <a:ext cx="33501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150" spc="-1" strike="noStrike">
                <a:solidFill>
                  <a:srgbClr val="e0e4e6"/>
                </a:solidFill>
                <a:latin typeface="Spline Sans"/>
                <a:ea typeface="Spline Sans"/>
              </a:rPr>
              <a:t>SENSOR_CHAN_TEMP</a:t>
            </a:r>
            <a:endParaRPr b="0" lang="en-US" sz="2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Google Shape;131;p5"/>
          <p:cNvSpPr/>
          <p:nvPr/>
        </p:nvSpPr>
        <p:spPr>
          <a:xfrm>
            <a:off x="9908640" y="3334680"/>
            <a:ext cx="3568320" cy="79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8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Temperature readings in degrees Celsius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Google Shape;132;p5"/>
          <p:cNvSpPr/>
          <p:nvPr/>
        </p:nvSpPr>
        <p:spPr>
          <a:xfrm>
            <a:off x="873000" y="5008680"/>
            <a:ext cx="6316920" cy="1454760"/>
          </a:xfrm>
          <a:prstGeom prst="roundRect">
            <a:avLst>
              <a:gd name="adj" fmla="val 25716"/>
            </a:avLst>
          </a:prstGeom>
          <a:solidFill>
            <a:srgbClr val="0a081b"/>
          </a:solidFill>
          <a:ln w="30475">
            <a:solidFill>
              <a:srgbClr val="0912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Google Shape;133;p5"/>
          <p:cNvSpPr/>
          <p:nvPr/>
        </p:nvSpPr>
        <p:spPr>
          <a:xfrm>
            <a:off x="1153080" y="5288400"/>
            <a:ext cx="34189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150" spc="-1" strike="noStrike">
                <a:solidFill>
                  <a:srgbClr val="e0e4e6"/>
                </a:solidFill>
                <a:latin typeface="Spline Sans"/>
                <a:ea typeface="Spline Sans"/>
              </a:rPr>
              <a:t>SENSOR_CHAN_LIGHT</a:t>
            </a:r>
            <a:endParaRPr b="0" lang="en-US" sz="2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Google Shape;134;p5"/>
          <p:cNvSpPr/>
          <p:nvPr/>
        </p:nvSpPr>
        <p:spPr>
          <a:xfrm>
            <a:off x="1153080" y="5784480"/>
            <a:ext cx="57571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8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Ambient light levels, often in lux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Google Shape;135;p5"/>
          <p:cNvSpPr/>
          <p:nvPr/>
        </p:nvSpPr>
        <p:spPr>
          <a:xfrm>
            <a:off x="7439760" y="5008680"/>
            <a:ext cx="6316920" cy="1454760"/>
          </a:xfrm>
          <a:prstGeom prst="roundRect">
            <a:avLst>
              <a:gd name="adj" fmla="val 25716"/>
            </a:avLst>
          </a:prstGeom>
          <a:solidFill>
            <a:srgbClr val="0a081b"/>
          </a:solidFill>
          <a:ln w="30475">
            <a:solidFill>
              <a:srgbClr val="16ff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Google Shape;136;p5"/>
          <p:cNvSpPr/>
          <p:nvPr/>
        </p:nvSpPr>
        <p:spPr>
          <a:xfrm>
            <a:off x="7719840" y="5288400"/>
            <a:ext cx="29282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150" spc="-1" strike="noStrike">
                <a:solidFill>
                  <a:srgbClr val="e0e4e6"/>
                </a:solidFill>
                <a:latin typeface="Spline Sans"/>
                <a:ea typeface="Spline Sans"/>
              </a:rPr>
              <a:t>SENSOR_CHAN_PRESS</a:t>
            </a:r>
            <a:endParaRPr b="0" lang="en-US" sz="2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Google Shape;137;p5"/>
          <p:cNvSpPr/>
          <p:nvPr/>
        </p:nvSpPr>
        <p:spPr>
          <a:xfrm>
            <a:off x="7719840" y="5784480"/>
            <a:ext cx="57571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8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Atmospheric pressure, typically in kilopascals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Google Shape;138;p5"/>
          <p:cNvSpPr/>
          <p:nvPr/>
        </p:nvSpPr>
        <p:spPr>
          <a:xfrm>
            <a:off x="873000" y="6744240"/>
            <a:ext cx="12884040" cy="79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8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Each channel type corresponds to a specific type of physical measurement that can be retrieved from compatible sensors.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44;p6"/>
          <p:cNvSpPr/>
          <p:nvPr/>
        </p:nvSpPr>
        <p:spPr>
          <a:xfrm>
            <a:off x="725040" y="569880"/>
            <a:ext cx="299232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3000"/>
              </a:lnSpc>
              <a:tabLst>
                <a:tab algn="l" pos="0"/>
              </a:tabLst>
            </a:pPr>
            <a:r>
              <a:rPr b="1" lang="en-US" sz="2350" spc="-1" strike="noStrike">
                <a:solidFill>
                  <a:srgbClr val="f0fcff"/>
                </a:solidFill>
                <a:latin typeface="Spline Sans"/>
                <a:ea typeface="Spline Sans"/>
              </a:rPr>
              <a:t>Sensor Value Struct</a:t>
            </a:r>
            <a:endParaRPr b="0" lang="en-US" sz="2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Google Shape;145;p6"/>
          <p:cNvSpPr/>
          <p:nvPr/>
        </p:nvSpPr>
        <p:spPr>
          <a:xfrm>
            <a:off x="725040" y="1297080"/>
            <a:ext cx="6425640" cy="1063080"/>
          </a:xfrm>
          <a:prstGeom prst="roundRect">
            <a:avLst>
              <a:gd name="adj" fmla="val 18994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Google Shape;146;p6"/>
          <p:cNvSpPr/>
          <p:nvPr/>
        </p:nvSpPr>
        <p:spPr>
          <a:xfrm>
            <a:off x="718560" y="1290240"/>
            <a:ext cx="6438960" cy="2138760"/>
          </a:xfrm>
          <a:prstGeom prst="roundRect">
            <a:avLst>
              <a:gd name="adj" fmla="val 1899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Google Shape;147;p6"/>
          <p:cNvSpPr/>
          <p:nvPr/>
        </p:nvSpPr>
        <p:spPr>
          <a:xfrm>
            <a:off x="853200" y="1217880"/>
            <a:ext cx="6169680" cy="86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7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struct sensor_value {  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57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int val1;  /* integer part */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57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int val2;  /* fractional part in micro units */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57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};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Google Shape;148;p6"/>
          <p:cNvSpPr/>
          <p:nvPr/>
        </p:nvSpPr>
        <p:spPr>
          <a:xfrm>
            <a:off x="725040" y="3773880"/>
            <a:ext cx="642564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7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For example, to represent 20.500000°C: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Google Shape;149;p6"/>
          <p:cNvSpPr/>
          <p:nvPr/>
        </p:nvSpPr>
        <p:spPr>
          <a:xfrm>
            <a:off x="725040" y="4540680"/>
            <a:ext cx="642564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90600">
              <a:lnSpc>
                <a:spcPct val="157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val1 = 20 (integer part)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Google Shape;150;p6"/>
          <p:cNvSpPr/>
          <p:nvPr/>
        </p:nvSpPr>
        <p:spPr>
          <a:xfrm>
            <a:off x="725040" y="5077800"/>
            <a:ext cx="642564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90600">
              <a:lnSpc>
                <a:spcPct val="157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val2 = 500000 (fractional part)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Google Shape;151;p6"/>
          <p:cNvSpPr/>
          <p:nvPr/>
        </p:nvSpPr>
        <p:spPr>
          <a:xfrm>
            <a:off x="725040" y="5642640"/>
            <a:ext cx="642564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7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0e4e6"/>
                </a:solidFill>
                <a:latin typeface="Barlow"/>
                <a:ea typeface="Barlow"/>
              </a:rPr>
              <a:t>Typical usage in code: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Google Shape;152;p6"/>
          <p:cNvSpPr/>
          <p:nvPr/>
        </p:nvSpPr>
        <p:spPr>
          <a:xfrm>
            <a:off x="725040" y="5552280"/>
            <a:ext cx="6425640" cy="416880"/>
          </a:xfrm>
          <a:prstGeom prst="roundRect">
            <a:avLst>
              <a:gd name="adj" fmla="val 48404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Google Shape;153;p6"/>
          <p:cNvSpPr/>
          <p:nvPr/>
        </p:nvSpPr>
        <p:spPr>
          <a:xfrm>
            <a:off x="718560" y="5552280"/>
            <a:ext cx="6438960" cy="416880"/>
          </a:xfrm>
          <a:prstGeom prst="roundRect">
            <a:avLst>
              <a:gd name="adj" fmla="val 4840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Google Shape;154;p6"/>
          <p:cNvSpPr/>
          <p:nvPr/>
        </p:nvSpPr>
        <p:spPr>
          <a:xfrm>
            <a:off x="853200" y="5653440"/>
            <a:ext cx="616932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7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printf("%d.%06d", val.val1, val.val2);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2" name="Google Shape;155;p6" descr="preencoded.png"/>
          <p:cNvPicPr/>
          <p:nvPr/>
        </p:nvPicPr>
        <p:blipFill>
          <a:blip r:embed="rId1"/>
          <a:stretch/>
        </p:blipFill>
        <p:spPr>
          <a:xfrm>
            <a:off x="7486920" y="1373400"/>
            <a:ext cx="6425640" cy="6425640"/>
          </a:xfrm>
          <a:prstGeom prst="rect">
            <a:avLst/>
          </a:prstGeom>
          <a:ln w="0">
            <a:noFill/>
          </a:ln>
        </p:spPr>
      </p:pic>
      <p:sp>
        <p:nvSpPr>
          <p:cNvPr id="133" name="Google Shape;156;p6"/>
          <p:cNvSpPr/>
          <p:nvPr/>
        </p:nvSpPr>
        <p:spPr>
          <a:xfrm>
            <a:off x="6118920" y="7694280"/>
            <a:ext cx="6425640" cy="4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7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0e4e6"/>
                </a:solidFill>
                <a:latin typeface="Barlow"/>
                <a:ea typeface="Barlow"/>
              </a:rPr>
              <a:t>This representation allows for precise readings while avoiding floating-point operations, which can be expensive on embedded systems.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62;p7"/>
          <p:cNvSpPr/>
          <p:nvPr/>
        </p:nvSpPr>
        <p:spPr>
          <a:xfrm>
            <a:off x="830880" y="644400"/>
            <a:ext cx="671292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0fcff"/>
                </a:solidFill>
                <a:latin typeface="Spline Sans"/>
                <a:ea typeface="Spline Sans"/>
              </a:rPr>
              <a:t>TMP112 Implementation of Sensor API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Google Shape;163;p7"/>
          <p:cNvSpPr/>
          <p:nvPr/>
        </p:nvSpPr>
        <p:spPr>
          <a:xfrm>
            <a:off x="830880" y="1446840"/>
            <a:ext cx="629100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e0e4e6"/>
                </a:solidFill>
                <a:latin typeface="Barlow"/>
                <a:ea typeface="Barlow"/>
              </a:rPr>
              <a:t>The TMP112 temperature sensor demonstrates how to implement the Zephyr sensor API: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Google Shape;164;p7"/>
          <p:cNvSpPr/>
          <p:nvPr/>
        </p:nvSpPr>
        <p:spPr>
          <a:xfrm>
            <a:off x="830880" y="2587320"/>
            <a:ext cx="62910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80880">
              <a:lnSpc>
                <a:spcPct val="162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Extends the generic sensor driver interface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Google Shape;165;p7"/>
          <p:cNvSpPr/>
          <p:nvPr/>
        </p:nvSpPr>
        <p:spPr>
          <a:xfrm>
            <a:off x="830880" y="3221280"/>
            <a:ext cx="62910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80880">
              <a:lnSpc>
                <a:spcPct val="162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Implements required callbacks for initialization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Google Shape;166;p7"/>
          <p:cNvSpPr/>
          <p:nvPr/>
        </p:nvSpPr>
        <p:spPr>
          <a:xfrm>
            <a:off x="830880" y="3585600"/>
            <a:ext cx="62910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80880">
              <a:lnSpc>
                <a:spcPct val="162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Provides</a:t>
            </a:r>
            <a:r>
              <a:rPr b="0" lang="en-US" sz="1200" spc="-1" strike="noStrike">
                <a:solidFill>
                  <a:srgbClr val="e0e4e6"/>
                </a:solidFill>
                <a:latin typeface="Barlow"/>
                <a:ea typeface="Barlow"/>
              </a:rPr>
              <a:t> </a:t>
            </a:r>
            <a:r>
              <a:rPr b="0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channel-specific data retrieval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Google Shape;167;p7"/>
          <p:cNvSpPr/>
          <p:nvPr/>
        </p:nvSpPr>
        <p:spPr>
          <a:xfrm>
            <a:off x="830880" y="3949560"/>
            <a:ext cx="62910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2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Translates raw sensor values to standard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Google Shape;168;p7"/>
          <p:cNvSpPr/>
          <p:nvPr/>
        </p:nvSpPr>
        <p:spPr>
          <a:xfrm>
            <a:off x="830880" y="4399200"/>
            <a:ext cx="62910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Key files to examine: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Google Shape;169;p7"/>
          <p:cNvSpPr/>
          <p:nvPr/>
        </p:nvSpPr>
        <p:spPr>
          <a:xfrm>
            <a:off x="830880" y="4848480"/>
            <a:ext cx="62910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2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include/zephyr/drivers/sensor.h - API definition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Google Shape;170;p7"/>
          <p:cNvSpPr/>
          <p:nvPr/>
        </p:nvSpPr>
        <p:spPr>
          <a:xfrm>
            <a:off x="830880" y="5212800"/>
            <a:ext cx="62910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2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drivers/sensor/tmp112/tmp112.c - Implementation example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3" name="Google Shape;171;p7" descr="preencoded.png"/>
          <p:cNvPicPr/>
          <p:nvPr/>
        </p:nvPicPr>
        <p:blipFill>
          <a:blip r:embed="rId1"/>
          <a:stretch/>
        </p:blipFill>
        <p:spPr>
          <a:xfrm>
            <a:off x="7508160" y="1481760"/>
            <a:ext cx="6291000" cy="6291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77;p8"/>
          <p:cNvSpPr/>
          <p:nvPr/>
        </p:nvSpPr>
        <p:spPr>
          <a:xfrm>
            <a:off x="880920" y="2071080"/>
            <a:ext cx="10091880" cy="6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0fcff"/>
                </a:solidFill>
                <a:latin typeface="Spline Sans"/>
                <a:ea typeface="Spline Sans"/>
              </a:rPr>
              <a:t>What is Required in DeviceTree?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Google Shape;178;p8"/>
          <p:cNvSpPr/>
          <p:nvPr/>
        </p:nvSpPr>
        <p:spPr>
          <a:xfrm>
            <a:off x="880920" y="3273840"/>
            <a:ext cx="565920" cy="565920"/>
          </a:xfrm>
          <a:prstGeom prst="roundRect">
            <a:avLst>
              <a:gd name="adj" fmla="val 66678"/>
            </a:avLst>
          </a:prstGeom>
          <a:solidFill>
            <a:srgbClr val="0a081b"/>
          </a:solidFill>
          <a:ln w="30475">
            <a:solidFill>
              <a:srgbClr val="16ff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Google Shape;179;p8"/>
          <p:cNvSpPr/>
          <p:nvPr/>
        </p:nvSpPr>
        <p:spPr>
          <a:xfrm>
            <a:off x="996480" y="3346920"/>
            <a:ext cx="33516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e0e4e6"/>
                </a:solidFill>
                <a:latin typeface="Spline Sans"/>
                <a:ea typeface="Spline Sans"/>
              </a:rPr>
              <a:t>1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Google Shape;180;p8"/>
          <p:cNvSpPr/>
          <p:nvPr/>
        </p:nvSpPr>
        <p:spPr>
          <a:xfrm>
            <a:off x="1699200" y="3360240"/>
            <a:ext cx="2796840" cy="3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e4e6"/>
                </a:solidFill>
                <a:latin typeface="Spline Sans"/>
                <a:ea typeface="Spline Sans"/>
              </a:rPr>
              <a:t>Sensor Description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Google Shape;181;p8"/>
          <p:cNvSpPr/>
          <p:nvPr/>
        </p:nvSpPr>
        <p:spPr>
          <a:xfrm>
            <a:off x="1699200" y="3861000"/>
            <a:ext cx="3261240" cy="16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Sensor must be properly described in the board's .dts file or in an application-specific overlay file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Google Shape;182;p8"/>
          <p:cNvSpPr/>
          <p:nvPr/>
        </p:nvSpPr>
        <p:spPr>
          <a:xfrm>
            <a:off x="5275440" y="3273840"/>
            <a:ext cx="565920" cy="565920"/>
          </a:xfrm>
          <a:prstGeom prst="roundRect">
            <a:avLst>
              <a:gd name="adj" fmla="val 66678"/>
            </a:avLst>
          </a:prstGeom>
          <a:solidFill>
            <a:srgbClr val="0a081b"/>
          </a:solidFill>
          <a:ln w="30475">
            <a:solidFill>
              <a:srgbClr val="29dd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Google Shape;183;p8"/>
          <p:cNvSpPr/>
          <p:nvPr/>
        </p:nvSpPr>
        <p:spPr>
          <a:xfrm>
            <a:off x="5390640" y="3346920"/>
            <a:ext cx="33516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e0e4e6"/>
                </a:solidFill>
                <a:latin typeface="Spline Sans"/>
                <a:ea typeface="Spline Sans"/>
              </a:rPr>
              <a:t>2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Google Shape;184;p8"/>
          <p:cNvSpPr/>
          <p:nvPr/>
        </p:nvSpPr>
        <p:spPr>
          <a:xfrm>
            <a:off x="6093360" y="3360240"/>
            <a:ext cx="2796840" cy="3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e4e6"/>
                </a:solidFill>
                <a:latin typeface="Spline Sans"/>
                <a:ea typeface="Spline Sans"/>
              </a:rPr>
              <a:t>Bus Connection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Google Shape;185;p8"/>
          <p:cNvSpPr/>
          <p:nvPr/>
        </p:nvSpPr>
        <p:spPr>
          <a:xfrm>
            <a:off x="6093360" y="3861000"/>
            <a:ext cx="3261240" cy="12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Specify the connection method (typically I2C or SPI) with correct bus parameters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Google Shape;186;p8"/>
          <p:cNvSpPr/>
          <p:nvPr/>
        </p:nvSpPr>
        <p:spPr>
          <a:xfrm>
            <a:off x="9669600" y="3273840"/>
            <a:ext cx="565920" cy="565920"/>
          </a:xfrm>
          <a:prstGeom prst="roundRect">
            <a:avLst>
              <a:gd name="adj" fmla="val 66678"/>
            </a:avLst>
          </a:prstGeom>
          <a:solidFill>
            <a:srgbClr val="0a081b"/>
          </a:solidFill>
          <a:ln w="30475">
            <a:solidFill>
              <a:srgbClr val="37a7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Google Shape;187;p8"/>
          <p:cNvSpPr/>
          <p:nvPr/>
        </p:nvSpPr>
        <p:spPr>
          <a:xfrm>
            <a:off x="9784800" y="3346920"/>
            <a:ext cx="33516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e0e4e6"/>
                </a:solidFill>
                <a:latin typeface="Spline Sans"/>
                <a:ea typeface="Spline Sans"/>
              </a:rPr>
              <a:t>3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Google Shape;188;p8"/>
          <p:cNvSpPr/>
          <p:nvPr/>
        </p:nvSpPr>
        <p:spPr>
          <a:xfrm>
            <a:off x="10487880" y="3360240"/>
            <a:ext cx="2796840" cy="3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e4e6"/>
                </a:solidFill>
                <a:latin typeface="Spline Sans"/>
                <a:ea typeface="Spline Sans"/>
              </a:rPr>
              <a:t>Required Properties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Google Shape;189;p8"/>
          <p:cNvSpPr/>
          <p:nvPr/>
        </p:nvSpPr>
        <p:spPr>
          <a:xfrm>
            <a:off x="10487880" y="3861000"/>
            <a:ext cx="3261240" cy="16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Include the "compatible" string to match driver, "reg" for address, and any GPIO interrupt connections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Google Shape;190;p8"/>
          <p:cNvSpPr/>
          <p:nvPr/>
        </p:nvSpPr>
        <p:spPr>
          <a:xfrm>
            <a:off x="880920" y="5755680"/>
            <a:ext cx="128678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96;p9"/>
          <p:cNvSpPr/>
          <p:nvPr/>
        </p:nvSpPr>
        <p:spPr>
          <a:xfrm>
            <a:off x="834840" y="655920"/>
            <a:ext cx="46710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0fcff"/>
                </a:solidFill>
                <a:latin typeface="Spline Sans"/>
                <a:ea typeface="Spline Sans"/>
              </a:rPr>
              <a:t>Sample Demo: TMP102 Setup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Google Shape;197;p9"/>
          <p:cNvSpPr/>
          <p:nvPr/>
        </p:nvSpPr>
        <p:spPr>
          <a:xfrm>
            <a:off x="795600" y="2057400"/>
            <a:ext cx="62910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To prepare the TMP102 demo: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Google Shape;198;p9"/>
          <p:cNvSpPr/>
          <p:nvPr/>
        </p:nvSpPr>
        <p:spPr>
          <a:xfrm>
            <a:off x="795600" y="2514600"/>
            <a:ext cx="62910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Navigate to the sample directory: </a:t>
            </a:r>
            <a:r>
              <a:rPr b="1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samples/sensor/tmp112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Google Shape;199;p9"/>
          <p:cNvSpPr/>
          <p:nvPr/>
        </p:nvSpPr>
        <p:spPr>
          <a:xfrm>
            <a:off x="795600" y="3348000"/>
            <a:ext cx="62910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Create an </a:t>
            </a:r>
            <a:r>
              <a:rPr b="1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app.overlay</a:t>
            </a:r>
            <a:r>
              <a:rPr b="0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 file for your board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Google Shape;200;p9"/>
          <p:cNvSpPr/>
          <p:nvPr/>
        </p:nvSpPr>
        <p:spPr>
          <a:xfrm>
            <a:off x="457200" y="3805200"/>
            <a:ext cx="62910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80880">
              <a:lnSpc>
                <a:spcPct val="162000"/>
              </a:lnSpc>
              <a:buClr>
                <a:srgbClr val="e0e4e6"/>
              </a:buClr>
              <a:buFont typeface="Calibri"/>
              <a:buAutoNum type="arabicPeriod" startAt="3"/>
            </a:pPr>
            <a:r>
              <a:rPr b="0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* Update the arduino_i2c node from nrf52dk_nrf52832.dts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Google Shape;201;p9"/>
          <p:cNvSpPr/>
          <p:nvPr/>
        </p:nvSpPr>
        <p:spPr>
          <a:xfrm>
            <a:off x="457200" y="4800600"/>
            <a:ext cx="62910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80880">
              <a:lnSpc>
                <a:spcPct val="162000"/>
              </a:lnSpc>
              <a:buClr>
                <a:srgbClr val="e0e4e6"/>
              </a:buClr>
              <a:buFont typeface="Calibri"/>
              <a:buAutoNum type="arabicPeriod" startAt="4"/>
            </a:pPr>
            <a:r>
              <a:rPr b="0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* Add the TMP102 sensor node with appropriate address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Google Shape;202;p9"/>
          <p:cNvSpPr/>
          <p:nvPr/>
        </p:nvSpPr>
        <p:spPr>
          <a:xfrm>
            <a:off x="685800" y="6238440"/>
            <a:ext cx="629100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Hint:</a:t>
            </a:r>
            <a:r>
              <a:rPr b="0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 TMP102 is similar to TMP112 but uses a different I2C slave address. Check frdm_k64f.overlay for reference.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5" name="Google Shape;203;p9" descr="preencoded.png"/>
          <p:cNvPicPr/>
          <p:nvPr/>
        </p:nvPicPr>
        <p:blipFill>
          <a:blip r:embed="rId1"/>
          <a:stretch/>
        </p:blipFill>
        <p:spPr>
          <a:xfrm>
            <a:off x="7511760" y="1493280"/>
            <a:ext cx="6291000" cy="6291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209;p10"/>
          <p:cNvSpPr/>
          <p:nvPr/>
        </p:nvSpPr>
        <p:spPr>
          <a:xfrm>
            <a:off x="877680" y="690840"/>
            <a:ext cx="826632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-US" sz="3500" spc="-1" strike="noStrike">
                <a:solidFill>
                  <a:srgbClr val="f0fcff"/>
                </a:solidFill>
                <a:latin typeface="Spline Sans"/>
                <a:ea typeface="Spline Sans"/>
              </a:rPr>
              <a:t>Sample Demo: Building and Testing</a:t>
            </a:r>
            <a:endParaRPr b="0" lang="en-US" sz="3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Google Shape;210;p10"/>
          <p:cNvSpPr/>
          <p:nvPr/>
        </p:nvSpPr>
        <p:spPr>
          <a:xfrm>
            <a:off x="877680" y="1549080"/>
            <a:ext cx="200160" cy="1968840"/>
          </a:xfrm>
          <a:prstGeom prst="roundRect">
            <a:avLst>
              <a:gd name="adj" fmla="val 150037"/>
            </a:avLst>
          </a:prstGeom>
          <a:solidFill>
            <a:srgbClr val="0a081b"/>
          </a:solidFill>
          <a:ln w="22850">
            <a:solidFill>
              <a:srgbClr val="16ff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Google Shape;211;p10"/>
          <p:cNvSpPr/>
          <p:nvPr/>
        </p:nvSpPr>
        <p:spPr>
          <a:xfrm>
            <a:off x="1279080" y="1749600"/>
            <a:ext cx="222912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2000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e0e4e6"/>
                </a:solidFill>
                <a:latin typeface="Spline Sans"/>
                <a:ea typeface="Spline Sans"/>
              </a:rPr>
              <a:t>Build the Sample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Google Shape;212;p10"/>
          <p:cNvSpPr/>
          <p:nvPr/>
        </p:nvSpPr>
        <p:spPr>
          <a:xfrm>
            <a:off x="1279080" y="2148840"/>
            <a:ext cx="1247328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0e4e6"/>
                </a:solidFill>
                <a:latin typeface="Barlow"/>
                <a:ea typeface="Barlow"/>
              </a:rPr>
              <a:t>Use the west build command to compile the sample for your target board: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Google Shape;213;p10"/>
          <p:cNvSpPr/>
          <p:nvPr/>
        </p:nvSpPr>
        <p:spPr>
          <a:xfrm>
            <a:off x="1279080" y="2695320"/>
            <a:ext cx="12473280" cy="621720"/>
          </a:xfrm>
          <a:prstGeom prst="roundRect">
            <a:avLst>
              <a:gd name="adj" fmla="val 48394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Google Shape;214;p10"/>
          <p:cNvSpPr/>
          <p:nvPr/>
        </p:nvSpPr>
        <p:spPr>
          <a:xfrm>
            <a:off x="1269000" y="2695320"/>
            <a:ext cx="12493080" cy="621720"/>
          </a:xfrm>
          <a:prstGeom prst="roundRect">
            <a:avLst>
              <a:gd name="adj" fmla="val 4839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Google Shape;215;p10"/>
          <p:cNvSpPr/>
          <p:nvPr/>
        </p:nvSpPr>
        <p:spPr>
          <a:xfrm>
            <a:off x="1469880" y="2845800"/>
            <a:ext cx="1209204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west build -p always -b nrf52dk/nrf52832 samples/sensor/tmp112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Google Shape;216;p10"/>
          <p:cNvSpPr/>
          <p:nvPr/>
        </p:nvSpPr>
        <p:spPr>
          <a:xfrm>
            <a:off x="1179000" y="3668400"/>
            <a:ext cx="200160" cy="1203480"/>
          </a:xfrm>
          <a:prstGeom prst="roundRect">
            <a:avLst>
              <a:gd name="adj" fmla="val 150037"/>
            </a:avLst>
          </a:prstGeom>
          <a:solidFill>
            <a:srgbClr val="0a081b"/>
          </a:solidFill>
          <a:ln w="22850">
            <a:solidFill>
              <a:srgbClr val="29dd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Google Shape;217;p10"/>
          <p:cNvSpPr/>
          <p:nvPr/>
        </p:nvSpPr>
        <p:spPr>
          <a:xfrm>
            <a:off x="1580040" y="3869280"/>
            <a:ext cx="222912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2000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e0e4e6"/>
                </a:solidFill>
                <a:latin typeface="Spline Sans"/>
                <a:ea typeface="Spline Sans"/>
              </a:rPr>
              <a:t>Connect Hardware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Google Shape;218;p10"/>
          <p:cNvSpPr/>
          <p:nvPr/>
        </p:nvSpPr>
        <p:spPr>
          <a:xfrm>
            <a:off x="1580040" y="4268160"/>
            <a:ext cx="1217196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0e4e6"/>
                </a:solidFill>
                <a:latin typeface="Barlow"/>
                <a:ea typeface="Barlow"/>
              </a:rPr>
              <a:t>Wire the TMP102 sensor to the development board according to the pinout documentation. 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Google Shape;219;p10"/>
          <p:cNvSpPr/>
          <p:nvPr/>
        </p:nvSpPr>
        <p:spPr>
          <a:xfrm>
            <a:off x="1479960" y="5023080"/>
            <a:ext cx="200160" cy="2515320"/>
          </a:xfrm>
          <a:prstGeom prst="roundRect">
            <a:avLst>
              <a:gd name="adj" fmla="val 150037"/>
            </a:avLst>
          </a:prstGeom>
          <a:solidFill>
            <a:srgbClr val="0a081b"/>
          </a:solidFill>
          <a:ln w="22850">
            <a:solidFill>
              <a:srgbClr val="37a7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Google Shape;220;p10"/>
          <p:cNvSpPr/>
          <p:nvPr/>
        </p:nvSpPr>
        <p:spPr>
          <a:xfrm>
            <a:off x="1881000" y="5223600"/>
            <a:ext cx="222912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2000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e0e4e6"/>
                </a:solidFill>
                <a:latin typeface="Spline Sans"/>
                <a:ea typeface="Spline Sans"/>
              </a:rPr>
              <a:t>Flash and Test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Google Shape;221;p10"/>
          <p:cNvSpPr/>
          <p:nvPr/>
        </p:nvSpPr>
        <p:spPr>
          <a:xfrm>
            <a:off x="1881000" y="5622840"/>
            <a:ext cx="1187100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0e4e6"/>
                </a:solidFill>
                <a:latin typeface="Barlow"/>
                <a:ea typeface="Barlow"/>
              </a:rPr>
              <a:t>Upload the firmware and verify operation: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Google Shape;222;p10"/>
          <p:cNvSpPr/>
          <p:nvPr/>
        </p:nvSpPr>
        <p:spPr>
          <a:xfrm>
            <a:off x="1881000" y="6169320"/>
            <a:ext cx="11871000" cy="621720"/>
          </a:xfrm>
          <a:prstGeom prst="roundRect">
            <a:avLst>
              <a:gd name="adj" fmla="val 48394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Google Shape;223;p10"/>
          <p:cNvSpPr/>
          <p:nvPr/>
        </p:nvSpPr>
        <p:spPr>
          <a:xfrm>
            <a:off x="1870920" y="6169320"/>
            <a:ext cx="11891160" cy="621720"/>
          </a:xfrm>
          <a:prstGeom prst="roundRect">
            <a:avLst>
              <a:gd name="adj" fmla="val 4839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Google Shape;224;p10"/>
          <p:cNvSpPr/>
          <p:nvPr/>
        </p:nvSpPr>
        <p:spPr>
          <a:xfrm>
            <a:off x="2071800" y="6319800"/>
            <a:ext cx="1148976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west flash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Google Shape;225;p10"/>
          <p:cNvSpPr/>
          <p:nvPr/>
        </p:nvSpPr>
        <p:spPr>
          <a:xfrm>
            <a:off x="1881000" y="7017120"/>
            <a:ext cx="1187100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0e4e6"/>
                </a:solidFill>
                <a:latin typeface="Barlow"/>
                <a:ea typeface="Barlow"/>
              </a:rPr>
              <a:t>Monitor the serial output to confirm temperature readings.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231;p11"/>
          <p:cNvSpPr/>
          <p:nvPr/>
        </p:nvSpPr>
        <p:spPr>
          <a:xfrm>
            <a:off x="880920" y="1688040"/>
            <a:ext cx="5594400" cy="6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0fcff"/>
                </a:solidFill>
                <a:latin typeface="Spline Sans"/>
                <a:ea typeface="Spline Sans"/>
              </a:rPr>
              <a:t>Shell Integration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Google Shape;232;p11"/>
          <p:cNvSpPr/>
          <p:nvPr/>
        </p:nvSpPr>
        <p:spPr>
          <a:xfrm>
            <a:off x="880920" y="2890800"/>
            <a:ext cx="128678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1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Zephyr allows registering CLI commands via shell subsystem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Google Shape;233;p11"/>
          <p:cNvSpPr/>
          <p:nvPr/>
        </p:nvSpPr>
        <p:spPr>
          <a:xfrm>
            <a:off x="880920" y="3381840"/>
            <a:ext cx="128678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1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comment out the do_main function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Google Shape;234;p11"/>
          <p:cNvSpPr/>
          <p:nvPr/>
        </p:nvSpPr>
        <p:spPr>
          <a:xfrm>
            <a:off x="880920" y="3872880"/>
            <a:ext cx="128678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1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add to prj.conf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Google Shape;235;p11"/>
          <p:cNvSpPr/>
          <p:nvPr/>
        </p:nvSpPr>
        <p:spPr>
          <a:xfrm>
            <a:off x="880920" y="4558680"/>
            <a:ext cx="12867840" cy="8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        </a:t>
            </a: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CONFIG_SHELL=y</a:t>
            </a: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	</a:t>
            </a: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CONFIG_SENSOR_SHELL=y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Google Shape;236;p11"/>
          <p:cNvSpPr/>
          <p:nvPr/>
        </p:nvSpPr>
        <p:spPr>
          <a:xfrm>
            <a:off x="880920" y="5647680"/>
            <a:ext cx="128678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1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rebuild and flash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Google Shape;237;p11"/>
          <p:cNvSpPr/>
          <p:nvPr/>
        </p:nvSpPr>
        <p:spPr>
          <a:xfrm>
            <a:off x="880920" y="6138720"/>
            <a:ext cx="128678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1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run ‘sensor get tmp112@48 ambient_temp’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243;p12"/>
          <p:cNvSpPr/>
          <p:nvPr/>
        </p:nvSpPr>
        <p:spPr>
          <a:xfrm>
            <a:off x="880920" y="3066480"/>
            <a:ext cx="5594400" cy="6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0fcff"/>
                </a:solidFill>
                <a:latin typeface="Spline Sans"/>
                <a:ea typeface="Spline Sans"/>
              </a:rPr>
              <a:t>zephyr abstraction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Google Shape;244;p12"/>
          <p:cNvSpPr/>
          <p:nvPr/>
        </p:nvSpPr>
        <p:spPr>
          <a:xfrm>
            <a:off x="880920" y="4269240"/>
            <a:ext cx="128678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1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change zephyr board to nrf52833/40 or stm32wl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Google Shape;245;p12"/>
          <p:cNvSpPr/>
          <p:nvPr/>
        </p:nvSpPr>
        <p:spPr>
          <a:xfrm>
            <a:off x="880920" y="4760280"/>
            <a:ext cx="128678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1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rebuild and run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2025-07-02T16:03:53Z</dcterms:created>
  <dc:creator/>
  <dc:description/>
  <dc:language>en-US</dc:language>
  <cp:lastModifiedBy/>
  <dcterms:modified xsi:type="dcterms:W3CDTF">2025-07-09T12:50:49Z</dcterms:modified>
  <cp:revision>1</cp:revision>
  <dc:subject/>
  <dc:title/>
</cp:coreProperties>
</file>