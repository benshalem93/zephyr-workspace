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9FB0BAA-864B-46A5-B8E2-6546B9252A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437813-99BE-4443-9738-ED8C647114A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06E1E2-CF5E-4EFE-9F1B-B761486F9DF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0F308A-6B92-4877-AEC8-A4A676A5029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BA7842-F691-4126-B5F1-3955EB1A623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5EF72E-678E-473F-8B27-12A41AA3CDA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F6F295-9B2C-430A-83D6-4895CFE406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A9C36E-80FD-4A47-93D4-C1F71D98FAB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FF7342-45FB-493A-8C13-9359DFFEDBB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83DFA8-AD51-440F-818B-1EE99329289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B2E899-E8F6-4C61-8F70-245495DBFB4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17F271-3534-4817-9382-DFB2B61885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1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2;p1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13;p1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22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6" name="Google Shape;48;p2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Google Shape;49;p22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51;p2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52;p2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53;p2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4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6;p14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oogle Shape;17;p14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9;p1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1" name="Google Shape;20;p15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Google Shape;21;p1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3;p16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6" name="Google Shape;24;p16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25;p16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27;p17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28;p17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Google Shape;29;p17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1;p18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32;p18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Google Shape;33;p18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35;p19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36;p19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Google Shape;37;p19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39;p2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40;p2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41;p20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43;p2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44;p2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Google Shape;45;p2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0;p1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62" name="Google Shape;61;p1"/>
          <p:cNvSpPr/>
          <p:nvPr/>
        </p:nvSpPr>
        <p:spPr>
          <a:xfrm>
            <a:off x="880920" y="3375000"/>
            <a:ext cx="6662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Workshop – BLE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Google Shape;62;p1"/>
          <p:cNvSpPr/>
          <p:nvPr/>
        </p:nvSpPr>
        <p:spPr>
          <a:xfrm>
            <a:off x="880920" y="4451760"/>
            <a:ext cx="73814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Two-board setup for hands-on BLE development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8;p2"/>
          <p:cNvSpPr/>
          <p:nvPr/>
        </p:nvSpPr>
        <p:spPr>
          <a:xfrm>
            <a:off x="834840" y="655920"/>
            <a:ext cx="344484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BLE?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69;p2"/>
          <p:cNvSpPr/>
          <p:nvPr/>
        </p:nvSpPr>
        <p:spPr>
          <a:xfrm>
            <a:off x="834840" y="145836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Google Shape;70;p2"/>
          <p:cNvSpPr/>
          <p:nvPr/>
        </p:nvSpPr>
        <p:spPr>
          <a:xfrm>
            <a:off x="834840" y="1908000"/>
            <a:ext cx="6291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Bluetooth Low Energy = short-range, low-power wireless communication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71;p2"/>
          <p:cNvSpPr/>
          <p:nvPr/>
        </p:nvSpPr>
        <p:spPr>
          <a:xfrm>
            <a:off x="834840" y="296316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Used in wearables, sensors, smart home devices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72;p2"/>
          <p:cNvSpPr/>
          <p:nvPr/>
        </p:nvSpPr>
        <p:spPr>
          <a:xfrm>
            <a:off x="834840" y="332748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Optimized for brief data exchange sessions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Google Shape;73;p2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1000" cy="629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9;p3"/>
          <p:cNvSpPr/>
          <p:nvPr/>
        </p:nvSpPr>
        <p:spPr>
          <a:xfrm>
            <a:off x="880920" y="2029320"/>
            <a:ext cx="559440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BLE Roles in Zephyr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Google Shape;80;p3" descr="preencoded.png"/>
          <p:cNvPicPr/>
          <p:nvPr/>
        </p:nvPicPr>
        <p:blipFill>
          <a:blip r:embed="rId1"/>
          <a:stretch/>
        </p:blipFill>
        <p:spPr>
          <a:xfrm>
            <a:off x="880920" y="3232080"/>
            <a:ext cx="4289040" cy="100656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81;p3"/>
          <p:cNvSpPr/>
          <p:nvPr/>
        </p:nvSpPr>
        <p:spPr>
          <a:xfrm>
            <a:off x="1132920" y="449100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Peripheral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82;p3"/>
          <p:cNvSpPr/>
          <p:nvPr/>
        </p:nvSpPr>
        <p:spPr>
          <a:xfrm>
            <a:off x="1132920" y="4991400"/>
            <a:ext cx="3785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Broadcasts services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83;p3"/>
          <p:cNvSpPr/>
          <p:nvPr/>
        </p:nvSpPr>
        <p:spPr>
          <a:xfrm>
            <a:off x="1132920" y="5545440"/>
            <a:ext cx="3785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Advertises availability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Google Shape;84;p3" descr="preencoded.png"/>
          <p:cNvPicPr/>
          <p:nvPr/>
        </p:nvPicPr>
        <p:blipFill>
          <a:blip r:embed="rId2"/>
          <a:stretch/>
        </p:blipFill>
        <p:spPr>
          <a:xfrm>
            <a:off x="5170320" y="3232080"/>
            <a:ext cx="4289040" cy="100656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85;p3"/>
          <p:cNvSpPr/>
          <p:nvPr/>
        </p:nvSpPr>
        <p:spPr>
          <a:xfrm>
            <a:off x="5421960" y="449100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Central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86;p3"/>
          <p:cNvSpPr/>
          <p:nvPr/>
        </p:nvSpPr>
        <p:spPr>
          <a:xfrm>
            <a:off x="5421960" y="4991400"/>
            <a:ext cx="3785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Scans for peripherals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87;p3"/>
          <p:cNvSpPr/>
          <p:nvPr/>
        </p:nvSpPr>
        <p:spPr>
          <a:xfrm>
            <a:off x="5421960" y="5545440"/>
            <a:ext cx="3785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Initiates connections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Google Shape;88;p3" descr="preencoded.png"/>
          <p:cNvPicPr/>
          <p:nvPr/>
        </p:nvPicPr>
        <p:blipFill>
          <a:blip r:embed="rId3"/>
          <a:stretch/>
        </p:blipFill>
        <p:spPr>
          <a:xfrm>
            <a:off x="9459720" y="3232080"/>
            <a:ext cx="4289040" cy="100656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89;p3"/>
          <p:cNvSpPr/>
          <p:nvPr/>
        </p:nvSpPr>
        <p:spPr>
          <a:xfrm>
            <a:off x="9711720" y="449100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Data Exchange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0;p3"/>
          <p:cNvSpPr/>
          <p:nvPr/>
        </p:nvSpPr>
        <p:spPr>
          <a:xfrm>
            <a:off x="9711720" y="4991400"/>
            <a:ext cx="3785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Read/write/notify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91;p3"/>
          <p:cNvSpPr/>
          <p:nvPr/>
        </p:nvSpPr>
        <p:spPr>
          <a:xfrm>
            <a:off x="9711720" y="5545440"/>
            <a:ext cx="3785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GATT characteristics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97;p4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98;p4"/>
          <p:cNvSpPr/>
          <p:nvPr/>
        </p:nvSpPr>
        <p:spPr>
          <a:xfrm>
            <a:off x="880920" y="2223360"/>
            <a:ext cx="68914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Advertising &amp; Scanning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99;p4"/>
          <p:cNvSpPr/>
          <p:nvPr/>
        </p:nvSpPr>
        <p:spPr>
          <a:xfrm>
            <a:off x="880920" y="330012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00;p4"/>
          <p:cNvSpPr/>
          <p:nvPr/>
        </p:nvSpPr>
        <p:spPr>
          <a:xfrm>
            <a:off x="1699200" y="3381840"/>
            <a:ext cx="65635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Peripheral broadcasts name &amp; UUID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01;p4"/>
          <p:cNvSpPr/>
          <p:nvPr/>
        </p:nvSpPr>
        <p:spPr>
          <a:xfrm>
            <a:off x="880920" y="437004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102;p4"/>
          <p:cNvSpPr/>
          <p:nvPr/>
        </p:nvSpPr>
        <p:spPr>
          <a:xfrm>
            <a:off x="1699200" y="4451760"/>
            <a:ext cx="65635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Central scans and parses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03;p4"/>
          <p:cNvSpPr/>
          <p:nvPr/>
        </p:nvSpPr>
        <p:spPr>
          <a:xfrm>
            <a:off x="880920" y="543996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04;p4"/>
          <p:cNvSpPr/>
          <p:nvPr/>
        </p:nvSpPr>
        <p:spPr>
          <a:xfrm>
            <a:off x="1699200" y="5521680"/>
            <a:ext cx="65635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Power vs interval tradeoffs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10;p5"/>
          <p:cNvSpPr/>
          <p:nvPr/>
        </p:nvSpPr>
        <p:spPr>
          <a:xfrm>
            <a:off x="880920" y="1963440"/>
            <a:ext cx="684936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Connection Process (GAP)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11;p5"/>
          <p:cNvSpPr/>
          <p:nvPr/>
        </p:nvSpPr>
        <p:spPr>
          <a:xfrm>
            <a:off x="880920" y="3921480"/>
            <a:ext cx="4163400" cy="251280"/>
          </a:xfrm>
          <a:prstGeom prst="roundRect">
            <a:avLst>
              <a:gd name="adj" fmla="val 150041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88920" bIns="88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12;p5"/>
          <p:cNvSpPr/>
          <p:nvPr/>
        </p:nvSpPr>
        <p:spPr>
          <a:xfrm>
            <a:off x="1132920" y="442476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Advertising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13;p5"/>
          <p:cNvSpPr/>
          <p:nvPr/>
        </p:nvSpPr>
        <p:spPr>
          <a:xfrm>
            <a:off x="1132920" y="4925520"/>
            <a:ext cx="3659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Peripheral broadcasts availability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14;p5"/>
          <p:cNvSpPr/>
          <p:nvPr/>
        </p:nvSpPr>
        <p:spPr>
          <a:xfrm>
            <a:off x="5233320" y="3543840"/>
            <a:ext cx="4163400" cy="251280"/>
          </a:xfrm>
          <a:prstGeom prst="roundRect">
            <a:avLst>
              <a:gd name="adj" fmla="val 150041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88920" bIns="88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15;p5"/>
          <p:cNvSpPr/>
          <p:nvPr/>
        </p:nvSpPr>
        <p:spPr>
          <a:xfrm>
            <a:off x="5484960" y="404712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CONNECT_REQ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16;p5"/>
          <p:cNvSpPr/>
          <p:nvPr/>
        </p:nvSpPr>
        <p:spPr>
          <a:xfrm>
            <a:off x="5484960" y="4547880"/>
            <a:ext cx="3659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Central initiates connection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17;p5"/>
          <p:cNvSpPr/>
          <p:nvPr/>
        </p:nvSpPr>
        <p:spPr>
          <a:xfrm>
            <a:off x="9585720" y="3166200"/>
            <a:ext cx="4163400" cy="251280"/>
          </a:xfrm>
          <a:prstGeom prst="roundRect">
            <a:avLst>
              <a:gd name="adj" fmla="val 150041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88920" bIns="88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18;p5"/>
          <p:cNvSpPr/>
          <p:nvPr/>
        </p:nvSpPr>
        <p:spPr>
          <a:xfrm>
            <a:off x="9837360" y="366948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Link Established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19;p5"/>
          <p:cNvSpPr/>
          <p:nvPr/>
        </p:nvSpPr>
        <p:spPr>
          <a:xfrm>
            <a:off x="9837360" y="4170240"/>
            <a:ext cx="365976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Data exchange begins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20;p5"/>
          <p:cNvSpPr/>
          <p:nvPr/>
        </p:nvSpPr>
        <p:spPr>
          <a:xfrm>
            <a:off x="880920" y="586332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Parameters: interval, latency, timeout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26;p6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314676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127;p6"/>
          <p:cNvSpPr/>
          <p:nvPr/>
        </p:nvSpPr>
        <p:spPr>
          <a:xfrm>
            <a:off x="880920" y="4093920"/>
            <a:ext cx="71200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GAP and GATT Overview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28;p6"/>
          <p:cNvSpPr/>
          <p:nvPr/>
        </p:nvSpPr>
        <p:spPr>
          <a:xfrm>
            <a:off x="880920" y="542232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0fcff"/>
                </a:solidFill>
                <a:latin typeface="Spline Sans"/>
                <a:ea typeface="Spline Sans"/>
              </a:rPr>
              <a:t>GAP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29;p6"/>
          <p:cNvSpPr/>
          <p:nvPr/>
        </p:nvSpPr>
        <p:spPr>
          <a:xfrm>
            <a:off x="880920" y="6023880"/>
            <a:ext cx="6126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Generic Access Profile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30;p6"/>
          <p:cNvSpPr/>
          <p:nvPr/>
        </p:nvSpPr>
        <p:spPr>
          <a:xfrm>
            <a:off x="880920" y="6653160"/>
            <a:ext cx="6126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Handles discovery &amp; connections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31;p6"/>
          <p:cNvSpPr/>
          <p:nvPr/>
        </p:nvSpPr>
        <p:spPr>
          <a:xfrm>
            <a:off x="7629840" y="542232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0fcff"/>
                </a:solidFill>
                <a:latin typeface="Spline Sans"/>
                <a:ea typeface="Spline Sans"/>
              </a:rPr>
              <a:t>GATT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32;p6"/>
          <p:cNvSpPr/>
          <p:nvPr/>
        </p:nvSpPr>
        <p:spPr>
          <a:xfrm>
            <a:off x="7629840" y="6023880"/>
            <a:ext cx="6126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Generic Attribute Profile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33;p6"/>
          <p:cNvSpPr/>
          <p:nvPr/>
        </p:nvSpPr>
        <p:spPr>
          <a:xfrm>
            <a:off x="7629840" y="6653160"/>
            <a:ext cx="6126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Data structure: services &amp; characteristics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39;p7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40;p7"/>
          <p:cNvSpPr/>
          <p:nvPr/>
        </p:nvSpPr>
        <p:spPr>
          <a:xfrm>
            <a:off x="880920" y="2223360"/>
            <a:ext cx="7805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Peripheral: Publishing Data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41;p7"/>
          <p:cNvSpPr/>
          <p:nvPr/>
        </p:nvSpPr>
        <p:spPr>
          <a:xfrm>
            <a:off x="880920" y="330012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42;p7"/>
          <p:cNvSpPr/>
          <p:nvPr/>
        </p:nvSpPr>
        <p:spPr>
          <a:xfrm>
            <a:off x="1699200" y="3381840"/>
            <a:ext cx="65635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Use GATT services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43;p7"/>
          <p:cNvSpPr/>
          <p:nvPr/>
        </p:nvSpPr>
        <p:spPr>
          <a:xfrm>
            <a:off x="880920" y="437004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44;p7"/>
          <p:cNvSpPr/>
          <p:nvPr/>
        </p:nvSpPr>
        <p:spPr>
          <a:xfrm>
            <a:off x="1699200" y="4451760"/>
            <a:ext cx="65635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Heart Rate Service example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45;p7"/>
          <p:cNvSpPr/>
          <p:nvPr/>
        </p:nvSpPr>
        <p:spPr>
          <a:xfrm>
            <a:off x="880920" y="543996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46;p7"/>
          <p:cNvSpPr/>
          <p:nvPr/>
        </p:nvSpPr>
        <p:spPr>
          <a:xfrm>
            <a:off x="1699200" y="5521680"/>
            <a:ext cx="65635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Notifications = async data push from server to client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52;p8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53;p8"/>
          <p:cNvSpPr/>
          <p:nvPr/>
        </p:nvSpPr>
        <p:spPr>
          <a:xfrm>
            <a:off x="880920" y="1002600"/>
            <a:ext cx="6869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BLE Sample: Peripheral HR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54;p8"/>
          <p:cNvSpPr/>
          <p:nvPr/>
        </p:nvSpPr>
        <p:spPr>
          <a:xfrm>
            <a:off x="880920" y="2079720"/>
            <a:ext cx="73814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55;p8"/>
          <p:cNvSpPr/>
          <p:nvPr/>
        </p:nvSpPr>
        <p:spPr>
          <a:xfrm>
            <a:off x="880920" y="2765520"/>
            <a:ext cx="7381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Path: samples/bluetooth/peripheral_hr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56;p8"/>
          <p:cNvSpPr/>
          <p:nvPr/>
        </p:nvSpPr>
        <p:spPr>
          <a:xfrm>
            <a:off x="880920" y="3357000"/>
            <a:ext cx="7381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Board: nrf52dk/nrf52832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57;p8"/>
          <p:cNvSpPr/>
          <p:nvPr/>
        </p:nvSpPr>
        <p:spPr>
          <a:xfrm>
            <a:off x="880920" y="4143600"/>
            <a:ext cx="738144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west build -b nrf52dk/nrf52832 samples/bluetooth/peripheral_hr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58;p8"/>
          <p:cNvSpPr/>
          <p:nvPr/>
        </p:nvSpPr>
        <p:spPr>
          <a:xfrm>
            <a:off x="880920" y="5433480"/>
            <a:ext cx="7381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west flash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59;p8"/>
          <p:cNvSpPr/>
          <p:nvPr/>
        </p:nvSpPr>
        <p:spPr>
          <a:xfrm>
            <a:off x="880920" y="6220080"/>
            <a:ext cx="7381440" cy="10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Save the peripheral mac addr printed on the screen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65;p9"/>
          <p:cNvSpPr/>
          <p:nvPr/>
        </p:nvSpPr>
        <p:spPr>
          <a:xfrm>
            <a:off x="880920" y="844920"/>
            <a:ext cx="5748480" cy="5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f0fcff"/>
                </a:solidFill>
                <a:latin typeface="Spline Sans"/>
                <a:ea typeface="Spline Sans"/>
              </a:rPr>
              <a:t>Central: Receiving Data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66;p9"/>
          <p:cNvSpPr/>
          <p:nvPr/>
        </p:nvSpPr>
        <p:spPr>
          <a:xfrm>
            <a:off x="7303680" y="1746720"/>
            <a:ext cx="22680" cy="5637600"/>
          </a:xfrm>
          <a:prstGeom prst="roundRect">
            <a:avLst>
              <a:gd name="adj" fmla="val 1239004"/>
            </a:avLst>
          </a:prstGeom>
          <a:solidFill>
            <a:srgbClr val="ffffff">
              <a:alpha val="2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67;p9"/>
          <p:cNvSpPr/>
          <p:nvPr/>
        </p:nvSpPr>
        <p:spPr>
          <a:xfrm>
            <a:off x="6559200" y="1947960"/>
            <a:ext cx="565920" cy="22680"/>
          </a:xfrm>
          <a:prstGeom prst="roundRect">
            <a:avLst>
              <a:gd name="adj" fmla="val 1239004"/>
            </a:avLst>
          </a:prstGeom>
          <a:solidFill>
            <a:srgbClr val="16ff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920" bIns="7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68;p9"/>
          <p:cNvSpPr/>
          <p:nvPr/>
        </p:nvSpPr>
        <p:spPr>
          <a:xfrm>
            <a:off x="7102800" y="1746720"/>
            <a:ext cx="424440" cy="424440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22850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69;p9"/>
          <p:cNvSpPr/>
          <p:nvPr/>
        </p:nvSpPr>
        <p:spPr>
          <a:xfrm>
            <a:off x="7189200" y="1801800"/>
            <a:ext cx="2512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e0e4e6"/>
                </a:solidFill>
                <a:latin typeface="Spline Sans"/>
                <a:ea typeface="Spline Sans"/>
              </a:rPr>
              <a:t>1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170;p9"/>
          <p:cNvSpPr/>
          <p:nvPr/>
        </p:nvSpPr>
        <p:spPr>
          <a:xfrm>
            <a:off x="4273200" y="1811880"/>
            <a:ext cx="2097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4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Scan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71;p9"/>
          <p:cNvSpPr/>
          <p:nvPr/>
        </p:nvSpPr>
        <p:spPr>
          <a:xfrm>
            <a:off x="880920" y="2187000"/>
            <a:ext cx="548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Find Heart Rate Service advertisers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172;p9"/>
          <p:cNvSpPr/>
          <p:nvPr/>
        </p:nvSpPr>
        <p:spPr>
          <a:xfrm>
            <a:off x="7504920" y="3080520"/>
            <a:ext cx="565920" cy="22680"/>
          </a:xfrm>
          <a:prstGeom prst="roundRect">
            <a:avLst>
              <a:gd name="adj" fmla="val 1239004"/>
            </a:avLst>
          </a:prstGeom>
          <a:solidFill>
            <a:srgbClr val="29dd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920" bIns="7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73;p9"/>
          <p:cNvSpPr/>
          <p:nvPr/>
        </p:nvSpPr>
        <p:spPr>
          <a:xfrm>
            <a:off x="7102800" y="2879640"/>
            <a:ext cx="424440" cy="424440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22850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74;p9"/>
          <p:cNvSpPr/>
          <p:nvPr/>
        </p:nvSpPr>
        <p:spPr>
          <a:xfrm>
            <a:off x="7189200" y="2934720"/>
            <a:ext cx="2512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e0e4e6"/>
                </a:solidFill>
                <a:latin typeface="Spline Sans"/>
                <a:ea typeface="Spline Sans"/>
              </a:rPr>
              <a:t>2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75;p9"/>
          <p:cNvSpPr/>
          <p:nvPr/>
        </p:nvSpPr>
        <p:spPr>
          <a:xfrm>
            <a:off x="8259120" y="2944440"/>
            <a:ext cx="2097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Connect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176;p9"/>
          <p:cNvSpPr/>
          <p:nvPr/>
        </p:nvSpPr>
        <p:spPr>
          <a:xfrm>
            <a:off x="8259120" y="3319920"/>
            <a:ext cx="548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Establish link with peripheral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77;p9"/>
          <p:cNvSpPr/>
          <p:nvPr/>
        </p:nvSpPr>
        <p:spPr>
          <a:xfrm>
            <a:off x="6559200" y="4057200"/>
            <a:ext cx="565920" cy="22680"/>
          </a:xfrm>
          <a:prstGeom prst="roundRect">
            <a:avLst>
              <a:gd name="adj" fmla="val 1239004"/>
            </a:avLst>
          </a:prstGeom>
          <a:solidFill>
            <a:srgbClr val="37a7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920" bIns="7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178;p9"/>
          <p:cNvSpPr/>
          <p:nvPr/>
        </p:nvSpPr>
        <p:spPr>
          <a:xfrm>
            <a:off x="7102800" y="3855960"/>
            <a:ext cx="424440" cy="424440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22850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179;p9"/>
          <p:cNvSpPr/>
          <p:nvPr/>
        </p:nvSpPr>
        <p:spPr>
          <a:xfrm>
            <a:off x="7189200" y="3911040"/>
            <a:ext cx="2512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e0e4e6"/>
                </a:solidFill>
                <a:latin typeface="Spline Sans"/>
                <a:ea typeface="Spline Sans"/>
              </a:rPr>
              <a:t>3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180;p9"/>
          <p:cNvSpPr/>
          <p:nvPr/>
        </p:nvSpPr>
        <p:spPr>
          <a:xfrm>
            <a:off x="4273200" y="3921120"/>
            <a:ext cx="2097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4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Discover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181;p9"/>
          <p:cNvSpPr/>
          <p:nvPr/>
        </p:nvSpPr>
        <p:spPr>
          <a:xfrm>
            <a:off x="880920" y="4296240"/>
            <a:ext cx="548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Find services &amp; characteristics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182;p9"/>
          <p:cNvSpPr/>
          <p:nvPr/>
        </p:nvSpPr>
        <p:spPr>
          <a:xfrm>
            <a:off x="7504920" y="5033520"/>
            <a:ext cx="565920" cy="22680"/>
          </a:xfrm>
          <a:prstGeom prst="roundRect">
            <a:avLst>
              <a:gd name="adj" fmla="val 1239004"/>
            </a:avLst>
          </a:prstGeom>
          <a:solidFill>
            <a:srgbClr val="0912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920" bIns="7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183;p9"/>
          <p:cNvSpPr/>
          <p:nvPr/>
        </p:nvSpPr>
        <p:spPr>
          <a:xfrm>
            <a:off x="7102800" y="4832640"/>
            <a:ext cx="424440" cy="424440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22850">
            <a:solidFill>
              <a:srgbClr val="0912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184;p9"/>
          <p:cNvSpPr/>
          <p:nvPr/>
        </p:nvSpPr>
        <p:spPr>
          <a:xfrm>
            <a:off x="7189200" y="4887720"/>
            <a:ext cx="2512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e0e4e6"/>
                </a:solidFill>
                <a:latin typeface="Spline Sans"/>
                <a:ea typeface="Spline Sans"/>
              </a:rPr>
              <a:t>4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185;p9"/>
          <p:cNvSpPr/>
          <p:nvPr/>
        </p:nvSpPr>
        <p:spPr>
          <a:xfrm>
            <a:off x="8259120" y="4897440"/>
            <a:ext cx="2097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Subscribe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86;p9"/>
          <p:cNvSpPr/>
          <p:nvPr/>
        </p:nvSpPr>
        <p:spPr>
          <a:xfrm>
            <a:off x="8259120" y="5272920"/>
            <a:ext cx="548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Enable notifications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87;p9"/>
          <p:cNvSpPr/>
          <p:nvPr/>
        </p:nvSpPr>
        <p:spPr>
          <a:xfrm>
            <a:off x="6559200" y="6010200"/>
            <a:ext cx="565920" cy="22680"/>
          </a:xfrm>
          <a:prstGeom prst="roundRect">
            <a:avLst>
              <a:gd name="adj" fmla="val 1239004"/>
            </a:avLst>
          </a:prstGeom>
          <a:solidFill>
            <a:srgbClr val="16ff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920" bIns="79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88;p9"/>
          <p:cNvSpPr/>
          <p:nvPr/>
        </p:nvSpPr>
        <p:spPr>
          <a:xfrm>
            <a:off x="7102800" y="5809320"/>
            <a:ext cx="424440" cy="424440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22850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189;p9"/>
          <p:cNvSpPr/>
          <p:nvPr/>
        </p:nvSpPr>
        <p:spPr>
          <a:xfrm>
            <a:off x="7189200" y="5864400"/>
            <a:ext cx="2512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e0e4e6"/>
                </a:solidFill>
                <a:latin typeface="Spline Sans"/>
                <a:ea typeface="Spline Sans"/>
              </a:rPr>
              <a:t>5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190;p9"/>
          <p:cNvSpPr/>
          <p:nvPr/>
        </p:nvSpPr>
        <p:spPr>
          <a:xfrm>
            <a:off x="4273200" y="5874120"/>
            <a:ext cx="2097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4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Receive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191;p9"/>
          <p:cNvSpPr/>
          <p:nvPr/>
        </p:nvSpPr>
        <p:spPr>
          <a:xfrm>
            <a:off x="880920" y="6249600"/>
            <a:ext cx="548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Process heart rate data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97;p10"/>
          <p:cNvSpPr/>
          <p:nvPr/>
        </p:nvSpPr>
        <p:spPr>
          <a:xfrm>
            <a:off x="793800" y="623520"/>
            <a:ext cx="4235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f0fcff"/>
                </a:solidFill>
                <a:latin typeface="Spline Sans"/>
                <a:ea typeface="Spline Sans"/>
              </a:rPr>
              <a:t>BLE Sample: Central HR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198;p10"/>
          <p:cNvSpPr/>
          <p:nvPr/>
        </p:nvSpPr>
        <p:spPr>
          <a:xfrm>
            <a:off x="793800" y="1386720"/>
            <a:ext cx="63414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Path: samples/bluetooth/central_hr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199;p10"/>
          <p:cNvSpPr/>
          <p:nvPr/>
        </p:nvSpPr>
        <p:spPr>
          <a:xfrm>
            <a:off x="793800" y="1733040"/>
            <a:ext cx="63414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Board: nrf52840dk/nrf52840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200;p10"/>
          <p:cNvSpPr/>
          <p:nvPr/>
        </p:nvSpPr>
        <p:spPr>
          <a:xfrm>
            <a:off x="793800" y="2079360"/>
            <a:ext cx="63414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In </a:t>
            </a: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device_found</a:t>
            </a: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 after the print add: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201;p10"/>
          <p:cNvSpPr/>
          <p:nvPr/>
        </p:nvSpPr>
        <p:spPr>
          <a:xfrm>
            <a:off x="793800" y="2425680"/>
            <a:ext cx="63414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if (strncmp(dev, PERIPH_ADDR, 17) != 0)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Google Shape;202;p10"/>
          <p:cNvSpPr/>
          <p:nvPr/>
        </p:nvSpPr>
        <p:spPr>
          <a:xfrm>
            <a:off x="793800" y="2853000"/>
            <a:ext cx="6341400" cy="16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 </a:t>
            </a: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  </a:t>
            </a: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printk(" (not ours)\n");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  </a:t>
            </a: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return;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03;p10"/>
          <p:cNvSpPr/>
          <p:nvPr/>
        </p:nvSpPr>
        <p:spPr>
          <a:xfrm>
            <a:off x="793800" y="4671720"/>
            <a:ext cx="63414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 </a:t>
            </a: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printk("\n");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04;p10"/>
          <p:cNvSpPr/>
          <p:nvPr/>
        </p:nvSpPr>
        <p:spPr>
          <a:xfrm>
            <a:off x="793800" y="5155920"/>
            <a:ext cx="63414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In </a:t>
            </a: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notify_func</a:t>
            </a: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:print the data[1]  instead of data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205;p10"/>
          <p:cNvSpPr/>
          <p:nvPr/>
        </p:nvSpPr>
        <p:spPr>
          <a:xfrm>
            <a:off x="793800" y="5797080"/>
            <a:ext cx="63414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Build and flash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Google Shape;206;p10" descr="preencoded.png"/>
          <p:cNvPicPr/>
          <p:nvPr/>
        </p:nvPicPr>
        <p:blipFill>
          <a:blip r:embed="rId1"/>
          <a:stretch/>
        </p:blipFill>
        <p:spPr>
          <a:xfrm>
            <a:off x="7502760" y="1419840"/>
            <a:ext cx="6341400" cy="6341400"/>
          </a:xfrm>
          <a:prstGeom prst="rect">
            <a:avLst/>
          </a:prstGeom>
          <a:ln w="0">
            <a:noFill/>
          </a:ln>
        </p:spPr>
      </p:pic>
      <p:sp>
        <p:nvSpPr>
          <p:cNvPr id="163" name="Google Shape;207;p10"/>
          <p:cNvSpPr/>
          <p:nvPr/>
        </p:nvSpPr>
        <p:spPr>
          <a:xfrm>
            <a:off x="793800" y="8092800"/>
            <a:ext cx="130428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13;p11"/>
          <p:cNvSpPr/>
          <p:nvPr/>
        </p:nvSpPr>
        <p:spPr>
          <a:xfrm>
            <a:off x="880920" y="2329920"/>
            <a:ext cx="6662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Exercise Demo Steps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14;p11"/>
          <p:cNvSpPr/>
          <p:nvPr/>
        </p:nvSpPr>
        <p:spPr>
          <a:xfrm>
            <a:off x="880920" y="353268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Calibri"/>
              <a:buAutoNum type="arabicPeriod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Connect both boards to USB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215;p11"/>
          <p:cNvSpPr/>
          <p:nvPr/>
        </p:nvSpPr>
        <p:spPr>
          <a:xfrm>
            <a:off x="880920" y="402372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Calibri"/>
              <a:buAutoNum type="arabicPeriod" startAt="2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Flash peripheral_hr to nRF52DK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16;p11"/>
          <p:cNvSpPr/>
          <p:nvPr/>
        </p:nvSpPr>
        <p:spPr>
          <a:xfrm>
            <a:off x="880920" y="451476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Calibri"/>
              <a:buAutoNum type="arabicPeriod" startAt="3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Flash central_hr to nRF52840DK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217;p11"/>
          <p:cNvSpPr/>
          <p:nvPr/>
        </p:nvSpPr>
        <p:spPr>
          <a:xfrm>
            <a:off x="880920" y="500580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Calibri"/>
              <a:buAutoNum type="arabicPeriod" startAt="4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Open two terminals (e.g., minicom)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18;p11"/>
          <p:cNvSpPr/>
          <p:nvPr/>
        </p:nvSpPr>
        <p:spPr>
          <a:xfrm>
            <a:off x="880920" y="549684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Calibri"/>
              <a:buAutoNum type="arabicPeriod" startAt="5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Observe advertisement, connection, and data transfer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61000"/>
              </a:lnSpc>
              <a:spcBef>
                <a:spcPts val="1191"/>
              </a:spcBef>
              <a:spcAft>
                <a:spcPts val="992"/>
              </a:spcAft>
              <a:buClr>
                <a:srgbClr val="e0e4e6"/>
              </a:buClr>
              <a:buFont typeface="Calibri"/>
              <a:buAutoNum type="arabicPeriod" startAt="5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Extra: change the freq of the advertisement so phone won’t see you (: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2025-07-03T15:43:08Z</dcterms:created>
  <dc:creator/>
  <dc:description/>
  <dc:language>en-US</dc:language>
  <cp:lastModifiedBy/>
  <dcterms:modified xsi:type="dcterms:W3CDTF">2025-07-08T09:19:06Z</dcterms:modified>
  <cp:revision>2</cp:revision>
  <dc:subject/>
  <dc:title/>
</cp:coreProperties>
</file>