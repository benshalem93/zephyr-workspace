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A1D533D-EC43-47EF-A7E2-5433319EBBD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DF2FC4-829E-4D34-A9FE-6A7026F9D19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7ABFC8-8937-4A75-B4C5-A09AD1AF248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9855A2-3222-4CE6-B405-7111167FFA1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C4BCA1-3976-4F39-B7CE-6FF0B0D5CEC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ED65DC-34C8-4D0C-9C90-A3CC8AEE90B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2DB8BB-A4ED-425F-B33F-4EA86EB3114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86FDA9-754A-4EAE-88B8-BE8934B40B9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27BCAC-037B-4077-8C5B-EAD537AF810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EA1CF8-8E29-4B86-BA78-D07B6C4EAFF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366C44-C1AA-43C4-9CCA-29C34705CD0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13878F-6E4D-4F67-9F1B-7DB83C953DC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1;p13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2;p13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Google Shape;13;p13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;p22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6" name="Google Shape;48;p22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Google Shape;49;p22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51;p23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52;p23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Google Shape;53;p23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4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6;p14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Google Shape;17;p14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9;p15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21" name="Google Shape;20;p15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Google Shape;21;p15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3;p16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26" name="Google Shape;24;p16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Google Shape;25;p16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27;p17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28;p17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Google Shape;29;p17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1;p18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36" name="Google Shape;32;p18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" name="Google Shape;33;p18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35;p19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36;p19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" name="Google Shape;37;p19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39;p2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40;p2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Google Shape;41;p20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43;p2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51" name="Google Shape;44;p2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Google Shape;45;p2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0;p1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62" name="Google Shape;61;p1"/>
          <p:cNvSpPr/>
          <p:nvPr/>
        </p:nvSpPr>
        <p:spPr>
          <a:xfrm>
            <a:off x="6367320" y="2823840"/>
            <a:ext cx="7381440" cy="13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Zephyr Workshop: Console, Logs &amp; Shell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Google Shape;62;p1"/>
          <p:cNvSpPr/>
          <p:nvPr/>
        </p:nvSpPr>
        <p:spPr>
          <a:xfrm>
            <a:off x="6367320" y="4599720"/>
            <a:ext cx="738144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A hands-on guide to understanding output mechanisms, logging systems, and runtime interaction in the Zephyr RTOS environment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8;p2"/>
          <p:cNvSpPr/>
          <p:nvPr/>
        </p:nvSpPr>
        <p:spPr>
          <a:xfrm>
            <a:off x="834840" y="655920"/>
            <a:ext cx="533736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0fcff"/>
                </a:solidFill>
                <a:latin typeface="Spline Sans"/>
                <a:ea typeface="Spline Sans"/>
              </a:rPr>
              <a:t>What is the Console in Zephyr?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69;p2"/>
          <p:cNvSpPr/>
          <p:nvPr/>
        </p:nvSpPr>
        <p:spPr>
          <a:xfrm>
            <a:off x="834840" y="1458360"/>
            <a:ext cx="629100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The console subsystem in Zephyr provides an abstraction layer for where text output is sent from your application. By default, output is directed to a UART (serial port), but the system is flexible: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Google Shape;70;p2"/>
          <p:cNvSpPr/>
          <p:nvPr/>
        </p:nvSpPr>
        <p:spPr>
          <a:xfrm>
            <a:off x="834840" y="3484800"/>
            <a:ext cx="6291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UART (Universal Asynchronous Receiver/Transmitter) - default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Google Shape;71;p2"/>
          <p:cNvSpPr/>
          <p:nvPr/>
        </p:nvSpPr>
        <p:spPr>
          <a:xfrm>
            <a:off x="834840" y="4396680"/>
            <a:ext cx="6291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USB CDC (Communications Device Class)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Google Shape;72;p2"/>
          <p:cNvSpPr/>
          <p:nvPr/>
        </p:nvSpPr>
        <p:spPr>
          <a:xfrm>
            <a:off x="834840" y="5460840"/>
            <a:ext cx="6291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Telnet for network-connected devices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73;p2"/>
          <p:cNvSpPr/>
          <p:nvPr/>
        </p:nvSpPr>
        <p:spPr>
          <a:xfrm>
            <a:off x="834840" y="5001120"/>
            <a:ext cx="6291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2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Dummy console for testing or systems without output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74;p2"/>
          <p:cNvSpPr/>
          <p:nvPr/>
        </p:nvSpPr>
        <p:spPr>
          <a:xfrm>
            <a:off x="834840" y="6150600"/>
            <a:ext cx="629100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Functions like </a:t>
            </a:r>
            <a:r>
              <a:rPr b="0" lang="en-US" sz="18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printk()</a:t>
            </a:r>
            <a:r>
              <a:rPr b="0" lang="en-US" sz="1800" spc="-1" strike="noStrike">
                <a:solidFill>
                  <a:srgbClr val="e0e4e6"/>
                </a:solidFill>
                <a:latin typeface="Barlow"/>
                <a:ea typeface="Barlow"/>
              </a:rPr>
              <a:t> and the various logging macros utilize the console backend to display their output.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Google Shape;75;p2" descr="preencoded.png"/>
          <p:cNvPicPr/>
          <p:nvPr/>
        </p:nvPicPr>
        <p:blipFill>
          <a:blip r:embed="rId1"/>
          <a:stretch/>
        </p:blipFill>
        <p:spPr>
          <a:xfrm>
            <a:off x="7511760" y="1493280"/>
            <a:ext cx="6291000" cy="629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81;p3"/>
          <p:cNvSpPr/>
          <p:nvPr/>
        </p:nvSpPr>
        <p:spPr>
          <a:xfrm>
            <a:off x="880920" y="771120"/>
            <a:ext cx="917748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150" spc="-1" strike="noStrike">
                <a:solidFill>
                  <a:srgbClr val="f0fcff"/>
                </a:solidFill>
                <a:latin typeface="Spline Sans"/>
                <a:ea typeface="Spline Sans"/>
              </a:rPr>
              <a:t>What is the Logging Subsystem?</a:t>
            </a:r>
            <a:endParaRPr b="0" lang="en-US" sz="4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Google Shape;82;p3"/>
          <p:cNvSpPr/>
          <p:nvPr/>
        </p:nvSpPr>
        <p:spPr>
          <a:xfrm>
            <a:off x="880920" y="1913760"/>
            <a:ext cx="537840" cy="537840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50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Google Shape;83;p3"/>
          <p:cNvSpPr/>
          <p:nvPr/>
        </p:nvSpPr>
        <p:spPr>
          <a:xfrm>
            <a:off x="1658160" y="1996200"/>
            <a:ext cx="291384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6000"/>
              </a:lnSpc>
              <a:tabLst>
                <a:tab algn="l" pos="0"/>
              </a:tabLst>
            </a:pPr>
            <a:r>
              <a:rPr b="1" lang="en-US" sz="2050" spc="-1" strike="noStrike">
                <a:solidFill>
                  <a:srgbClr val="e0e4e6"/>
                </a:solidFill>
                <a:latin typeface="Spline Sans"/>
                <a:ea typeface="Spline Sans"/>
              </a:rPr>
              <a:t>Structured Reporting</a:t>
            </a:r>
            <a:endParaRPr b="0" lang="en-U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Google Shape;84;p3"/>
          <p:cNvSpPr/>
          <p:nvPr/>
        </p:nvSpPr>
        <p:spPr>
          <a:xfrm>
            <a:off x="1658160" y="2471760"/>
            <a:ext cx="3312720" cy="26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e0e4e6"/>
                </a:solidFill>
                <a:latin typeface="Barlow"/>
                <a:ea typeface="Barlow"/>
              </a:rPr>
              <a:t>Zephyr's logging subsystem provides a structured and consistent way to report messages throughout your application. This enables better organization and filtering of output.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Google Shape;85;p3"/>
          <p:cNvSpPr/>
          <p:nvPr/>
        </p:nvSpPr>
        <p:spPr>
          <a:xfrm>
            <a:off x="5270040" y="1913760"/>
            <a:ext cx="537840" cy="537840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50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Google Shape;86;p3"/>
          <p:cNvSpPr/>
          <p:nvPr/>
        </p:nvSpPr>
        <p:spPr>
          <a:xfrm>
            <a:off x="6047280" y="1996200"/>
            <a:ext cx="265716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6000"/>
              </a:lnSpc>
              <a:tabLst>
                <a:tab algn="l" pos="0"/>
              </a:tabLst>
            </a:pPr>
            <a:r>
              <a:rPr b="1" lang="en-US" sz="2050" spc="-1" strike="noStrike">
                <a:solidFill>
                  <a:srgbClr val="e0e4e6"/>
                </a:solidFill>
                <a:latin typeface="Spline Sans"/>
                <a:ea typeface="Spline Sans"/>
              </a:rPr>
              <a:t>Severity Levels</a:t>
            </a:r>
            <a:endParaRPr b="0" lang="en-U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Google Shape;87;p3"/>
          <p:cNvSpPr/>
          <p:nvPr/>
        </p:nvSpPr>
        <p:spPr>
          <a:xfrm>
            <a:off x="6047280" y="2471760"/>
            <a:ext cx="3312720" cy="7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e0e4e6"/>
                </a:solidFill>
                <a:latin typeface="Barlow"/>
                <a:ea typeface="Barlow"/>
              </a:rPr>
              <a:t>Messages can be categorized by importance: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Google Shape;88;p3"/>
          <p:cNvSpPr/>
          <p:nvPr/>
        </p:nvSpPr>
        <p:spPr>
          <a:xfrm>
            <a:off x="6047280" y="3380400"/>
            <a:ext cx="3312720" cy="7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e0e4e6"/>
                </a:solidFill>
                <a:latin typeface="Barlow"/>
                <a:ea typeface="Barlow"/>
              </a:rPr>
              <a:t>LOG_ERR</a:t>
            </a:r>
            <a:r>
              <a:rPr b="0" lang="en-US" sz="1850" spc="-1" strike="noStrike">
                <a:solidFill>
                  <a:srgbClr val="e0e4e6"/>
                </a:solidFill>
                <a:latin typeface="Barlow"/>
                <a:ea typeface="Barlow"/>
              </a:rPr>
              <a:t> - Critical errors that prevent operation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Google Shape;89;p3"/>
          <p:cNvSpPr/>
          <p:nvPr/>
        </p:nvSpPr>
        <p:spPr>
          <a:xfrm>
            <a:off x="6047280" y="4229640"/>
            <a:ext cx="3312720" cy="11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e0e4e6"/>
                </a:solidFill>
                <a:latin typeface="Barlow"/>
                <a:ea typeface="Barlow"/>
              </a:rPr>
              <a:t>LOG_WRN</a:t>
            </a:r>
            <a:r>
              <a:rPr b="0" lang="en-US" sz="1850" spc="-1" strike="noStrike">
                <a:solidFill>
                  <a:srgbClr val="e0e4e6"/>
                </a:solidFill>
                <a:latin typeface="Barlow"/>
                <a:ea typeface="Barlow"/>
              </a:rPr>
              <a:t> - Warning conditions requiring attention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90;p3"/>
          <p:cNvSpPr/>
          <p:nvPr/>
        </p:nvSpPr>
        <p:spPr>
          <a:xfrm>
            <a:off x="6047280" y="5461200"/>
            <a:ext cx="3312720" cy="11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e0e4e6"/>
                </a:solidFill>
                <a:latin typeface="Barlow"/>
                <a:ea typeface="Barlow"/>
              </a:rPr>
              <a:t>LOG_INF</a:t>
            </a:r>
            <a:r>
              <a:rPr b="0" lang="en-US" sz="1850" spc="-1" strike="noStrike">
                <a:solidFill>
                  <a:srgbClr val="e0e4e6"/>
                </a:solidFill>
                <a:latin typeface="Barlow"/>
                <a:ea typeface="Barlow"/>
              </a:rPr>
              <a:t> - Informational messages about normal operation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Google Shape;91;p3"/>
          <p:cNvSpPr/>
          <p:nvPr/>
        </p:nvSpPr>
        <p:spPr>
          <a:xfrm>
            <a:off x="6047280" y="6693120"/>
            <a:ext cx="3312720" cy="7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e0e4e6"/>
                </a:solidFill>
                <a:latin typeface="Barlow"/>
                <a:ea typeface="Barlow"/>
              </a:rPr>
              <a:t>LOG_DBG</a:t>
            </a:r>
            <a:r>
              <a:rPr b="0" lang="en-US" sz="1850" spc="-1" strike="noStrike">
                <a:solidFill>
                  <a:srgbClr val="e0e4e6"/>
                </a:solidFill>
                <a:latin typeface="Barlow"/>
                <a:ea typeface="Barlow"/>
              </a:rPr>
              <a:t> - Detailed debug information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Google Shape;92;p3"/>
          <p:cNvSpPr/>
          <p:nvPr/>
        </p:nvSpPr>
        <p:spPr>
          <a:xfrm>
            <a:off x="9659160" y="1913760"/>
            <a:ext cx="537840" cy="537840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50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Google Shape;93;p3"/>
          <p:cNvSpPr/>
          <p:nvPr/>
        </p:nvSpPr>
        <p:spPr>
          <a:xfrm>
            <a:off x="10436400" y="1996200"/>
            <a:ext cx="331272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6000"/>
              </a:lnSpc>
              <a:tabLst>
                <a:tab algn="l" pos="0"/>
              </a:tabLst>
            </a:pPr>
            <a:r>
              <a:rPr b="1" lang="en-US" sz="2050" spc="-1" strike="noStrike">
                <a:solidFill>
                  <a:srgbClr val="e0e4e6"/>
                </a:solidFill>
                <a:latin typeface="Spline Sans"/>
                <a:ea typeface="Spline Sans"/>
              </a:rPr>
              <a:t>Module-Based Configuration</a:t>
            </a:r>
            <a:endParaRPr b="0" lang="en-U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Google Shape;94;p3"/>
          <p:cNvSpPr/>
          <p:nvPr/>
        </p:nvSpPr>
        <p:spPr>
          <a:xfrm>
            <a:off x="10436400" y="2804040"/>
            <a:ext cx="3312720" cy="22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e0e4e6"/>
                </a:solidFill>
                <a:latin typeface="Barlow"/>
                <a:ea typeface="Barlow"/>
              </a:rPr>
              <a:t>Each module in your application can have its own log level, allowing for fine-grained control over verbosity. Output is directed to the configured console backend.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00;p4"/>
          <p:cNvSpPr/>
          <p:nvPr/>
        </p:nvSpPr>
        <p:spPr>
          <a:xfrm>
            <a:off x="797040" y="626040"/>
            <a:ext cx="446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f0fcff"/>
                </a:solidFill>
                <a:latin typeface="Spline Sans"/>
                <a:ea typeface="Spline Sans"/>
              </a:rPr>
              <a:t>Logging Setup Example</a:t>
            </a:r>
            <a:endParaRPr b="0" lang="en-U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Google Shape;101;p4"/>
          <p:cNvSpPr/>
          <p:nvPr/>
        </p:nvSpPr>
        <p:spPr>
          <a:xfrm>
            <a:off x="797040" y="1407240"/>
            <a:ext cx="2860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0fcff"/>
                </a:solidFill>
                <a:latin typeface="Spline Sans"/>
                <a:ea typeface="Spline Sans"/>
              </a:rPr>
              <a:t>Configuration (prj.conf)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Google Shape;102;p4"/>
          <p:cNvSpPr/>
          <p:nvPr/>
        </p:nvSpPr>
        <p:spPr>
          <a:xfrm>
            <a:off x="797040" y="1820520"/>
            <a:ext cx="6337440" cy="931680"/>
          </a:xfrm>
          <a:prstGeom prst="roundRect">
            <a:avLst>
              <a:gd name="adj" fmla="val 23823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03;p4"/>
          <p:cNvSpPr/>
          <p:nvPr/>
        </p:nvSpPr>
        <p:spPr>
          <a:xfrm>
            <a:off x="789480" y="1820520"/>
            <a:ext cx="6352200" cy="1244880"/>
          </a:xfrm>
          <a:prstGeom prst="roundRect">
            <a:avLst>
              <a:gd name="adj" fmla="val 2382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04;p4"/>
          <p:cNvSpPr/>
          <p:nvPr/>
        </p:nvSpPr>
        <p:spPr>
          <a:xfrm>
            <a:off x="937440" y="1931400"/>
            <a:ext cx="605628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CONFIG_LOG=y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CONFIG_LOG_MODE_DEFERRED=y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CONFIG_LOG_BACKEND_UART=y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105;p4"/>
          <p:cNvSpPr/>
          <p:nvPr/>
        </p:nvSpPr>
        <p:spPr>
          <a:xfrm>
            <a:off x="797040" y="3223440"/>
            <a:ext cx="2782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0fcff"/>
                </a:solidFill>
                <a:latin typeface="Spline Sans"/>
                <a:ea typeface="Spline Sans"/>
              </a:rPr>
              <a:t>Code Implementation (main.c)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106;p4"/>
          <p:cNvSpPr/>
          <p:nvPr/>
        </p:nvSpPr>
        <p:spPr>
          <a:xfrm>
            <a:off x="789480" y="3605400"/>
            <a:ext cx="6352200" cy="695160"/>
          </a:xfrm>
          <a:prstGeom prst="roundRect">
            <a:avLst>
              <a:gd name="adj" fmla="val 3193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107;p4"/>
          <p:cNvSpPr/>
          <p:nvPr/>
        </p:nvSpPr>
        <p:spPr>
          <a:xfrm>
            <a:off x="937440" y="3595320"/>
            <a:ext cx="60559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#include &lt;zephyr/logging/log.h&gt;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LOG_MODULE_REGISTER(tmp102sample);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Google Shape;108;p4"/>
          <p:cNvSpPr/>
          <p:nvPr/>
        </p:nvSpPr>
        <p:spPr>
          <a:xfrm>
            <a:off x="797040" y="4498560"/>
            <a:ext cx="6337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Replace standard print statements with logging macros: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09;p4"/>
          <p:cNvSpPr/>
          <p:nvPr/>
        </p:nvSpPr>
        <p:spPr>
          <a:xfrm>
            <a:off x="789480" y="4901760"/>
            <a:ext cx="6352200" cy="695160"/>
          </a:xfrm>
          <a:prstGeom prst="roundRect">
            <a:avLst>
              <a:gd name="adj" fmla="val 3193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Google Shape;110;p4"/>
          <p:cNvSpPr/>
          <p:nvPr/>
        </p:nvSpPr>
        <p:spPr>
          <a:xfrm>
            <a:off x="914400" y="4784760"/>
            <a:ext cx="60559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// Before: printk("Temperature: %d\n", temp);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// After:  LOG_INF("Temperature: %d", temp);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11;p4"/>
          <p:cNvSpPr/>
          <p:nvPr/>
        </p:nvSpPr>
        <p:spPr>
          <a:xfrm>
            <a:off x="797040" y="5382360"/>
            <a:ext cx="6337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112;p4"/>
          <p:cNvSpPr/>
          <p:nvPr/>
        </p:nvSpPr>
        <p:spPr>
          <a:xfrm>
            <a:off x="797040" y="6198120"/>
            <a:ext cx="63374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The deferred mode buffers log messages and processes them later, which is less intrusive to timing-sensitive code. The UART backend ensures messages appear on the serial console.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9" name="Google Shape;113;p4" descr="preencoded.png"/>
          <p:cNvPicPr/>
          <p:nvPr/>
        </p:nvPicPr>
        <p:blipFill>
          <a:blip r:embed="rId1"/>
          <a:stretch/>
        </p:blipFill>
        <p:spPr>
          <a:xfrm>
            <a:off x="7503480" y="1425600"/>
            <a:ext cx="6337440" cy="6337440"/>
          </a:xfrm>
          <a:prstGeom prst="rect">
            <a:avLst/>
          </a:prstGeom>
          <a:ln w="0">
            <a:noFill/>
          </a:ln>
        </p:spPr>
      </p:pic>
      <p:sp>
        <p:nvSpPr>
          <p:cNvPr id="100" name="Google Shape;114;p4"/>
          <p:cNvSpPr/>
          <p:nvPr/>
        </p:nvSpPr>
        <p:spPr>
          <a:xfrm>
            <a:off x="7503480" y="7929720"/>
            <a:ext cx="63374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20;p5"/>
          <p:cNvSpPr/>
          <p:nvPr/>
        </p:nvSpPr>
        <p:spPr>
          <a:xfrm>
            <a:off x="876240" y="688320"/>
            <a:ext cx="761220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350" spc="-1" strike="noStrike">
                <a:solidFill>
                  <a:srgbClr val="f0fcff"/>
                </a:solidFill>
                <a:latin typeface="Spline Sans"/>
                <a:ea typeface="Spline Sans"/>
              </a:rPr>
              <a:t>What is the Shell Subsystem?</a:t>
            </a:r>
            <a:endParaRPr b="0" lang="en-US" sz="43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Google Shape;121;p5" descr="preencoded.png"/>
          <p:cNvPicPr/>
          <p:nvPr/>
        </p:nvPicPr>
        <p:blipFill>
          <a:blip r:embed="rId1"/>
          <a:stretch/>
        </p:blipFill>
        <p:spPr>
          <a:xfrm>
            <a:off x="876240" y="1884600"/>
            <a:ext cx="4083480" cy="2523600"/>
          </a:xfrm>
          <a:prstGeom prst="rect">
            <a:avLst/>
          </a:prstGeom>
          <a:ln w="0">
            <a:noFill/>
          </a:ln>
        </p:spPr>
      </p:pic>
      <p:sp>
        <p:nvSpPr>
          <p:cNvPr id="103" name="Google Shape;122;p5"/>
          <p:cNvSpPr/>
          <p:nvPr/>
        </p:nvSpPr>
        <p:spPr>
          <a:xfrm>
            <a:off x="876240" y="4658760"/>
            <a:ext cx="415296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Interactive Command-Line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23;p5"/>
          <p:cNvSpPr/>
          <p:nvPr/>
        </p:nvSpPr>
        <p:spPr>
          <a:xfrm>
            <a:off x="876240" y="5156640"/>
            <a:ext cx="4083480" cy="20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The Shell subsystem provides an interactive command-line interface over UART or USB connections, allowing real-time control and monitoring of your application.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5" name="Google Shape;124;p5" descr="preencoded.png"/>
          <p:cNvPicPr/>
          <p:nvPr/>
        </p:nvPicPr>
        <p:blipFill>
          <a:blip r:embed="rId2"/>
          <a:stretch/>
        </p:blipFill>
        <p:spPr>
          <a:xfrm>
            <a:off x="5273280" y="1884600"/>
            <a:ext cx="4083480" cy="2523600"/>
          </a:xfrm>
          <a:prstGeom prst="rect">
            <a:avLst/>
          </a:prstGeom>
          <a:ln w="0">
            <a:noFill/>
          </a:ln>
        </p:spPr>
      </p:pic>
      <p:sp>
        <p:nvSpPr>
          <p:cNvPr id="106" name="Google Shape;125;p5"/>
          <p:cNvSpPr/>
          <p:nvPr/>
        </p:nvSpPr>
        <p:spPr>
          <a:xfrm>
            <a:off x="5273280" y="4658760"/>
            <a:ext cx="278136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Runtime Control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26;p5"/>
          <p:cNvSpPr/>
          <p:nvPr/>
        </p:nvSpPr>
        <p:spPr>
          <a:xfrm>
            <a:off x="5273280" y="5156640"/>
            <a:ext cx="4083480" cy="20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Shell enables dynamic interaction with your application without recompilation. This is invaluable for debugging, testing, and runtime configuration adjustments.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Google Shape;127;p5" descr="preencoded.png"/>
          <p:cNvPicPr/>
          <p:nvPr/>
        </p:nvPicPr>
        <p:blipFill>
          <a:blip r:embed="rId3"/>
          <a:stretch/>
        </p:blipFill>
        <p:spPr>
          <a:xfrm>
            <a:off x="9669960" y="1884600"/>
            <a:ext cx="4083840" cy="2523600"/>
          </a:xfrm>
          <a:prstGeom prst="rect">
            <a:avLst/>
          </a:prstGeom>
          <a:ln w="0">
            <a:noFill/>
          </a:ln>
        </p:spPr>
      </p:pic>
      <p:sp>
        <p:nvSpPr>
          <p:cNvPr id="109" name="Google Shape;128;p5"/>
          <p:cNvSpPr/>
          <p:nvPr/>
        </p:nvSpPr>
        <p:spPr>
          <a:xfrm>
            <a:off x="9669960" y="4658760"/>
            <a:ext cx="33602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Extensible Commands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129;p5"/>
          <p:cNvSpPr/>
          <p:nvPr/>
        </p:nvSpPr>
        <p:spPr>
          <a:xfrm>
            <a:off x="9669960" y="5157000"/>
            <a:ext cx="4083840" cy="24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Developers can leverage built-in commands or create custom commands specific to their application's needs, providing a powerful interface for system monitoring and control.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35;p6"/>
          <p:cNvSpPr/>
          <p:nvPr/>
        </p:nvSpPr>
        <p:spPr>
          <a:xfrm>
            <a:off x="797040" y="626040"/>
            <a:ext cx="5146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f0fcff"/>
                </a:solidFill>
                <a:latin typeface="Spline Sans"/>
                <a:ea typeface="Spline Sans"/>
              </a:rPr>
              <a:t>Shell Backend (Console Link)</a:t>
            </a:r>
            <a:endParaRPr b="0" lang="en-U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36;p6"/>
          <p:cNvSpPr/>
          <p:nvPr/>
        </p:nvSpPr>
        <p:spPr>
          <a:xfrm>
            <a:off x="797040" y="1392480"/>
            <a:ext cx="633744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The Shell subsystem uses the same backend infrastructure as the console, creating a consistent interface for both programmatic and interactive output: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37;p6"/>
          <p:cNvSpPr/>
          <p:nvPr/>
        </p:nvSpPr>
        <p:spPr>
          <a:xfrm>
            <a:off x="797040" y="2650680"/>
            <a:ext cx="633744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7152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Shell commands and responses flow through the configured console backend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138;p6"/>
          <p:cNvSpPr/>
          <p:nvPr/>
        </p:nvSpPr>
        <p:spPr>
          <a:xfrm>
            <a:off x="797040" y="3523320"/>
            <a:ext cx="633744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Most commonly used with </a:t>
            </a: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CONFIG_SHELL_BACKEND_SERIAL</a:t>
            </a: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 for UART-based shells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139;p6"/>
          <p:cNvSpPr/>
          <p:nvPr/>
        </p:nvSpPr>
        <p:spPr>
          <a:xfrm>
            <a:off x="797040" y="4471920"/>
            <a:ext cx="6337440" cy="29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7152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Can share the same physical interface as application logging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140;p6"/>
          <p:cNvSpPr/>
          <p:nvPr/>
        </p:nvSpPr>
        <p:spPr>
          <a:xfrm>
            <a:off x="797040" y="5124240"/>
            <a:ext cx="6337440" cy="29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7152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Other option are BLE, USB, RTT, etc…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7" name="Google Shape;141;p6" descr="preencoded.png"/>
          <p:cNvPicPr/>
          <p:nvPr/>
        </p:nvPicPr>
        <p:blipFill>
          <a:blip r:embed="rId1"/>
          <a:stretch/>
        </p:blipFill>
        <p:spPr>
          <a:xfrm>
            <a:off x="7503480" y="1425600"/>
            <a:ext cx="6337440" cy="6337440"/>
          </a:xfrm>
          <a:prstGeom prst="rect">
            <a:avLst/>
          </a:prstGeom>
          <a:ln w="0">
            <a:noFill/>
          </a:ln>
        </p:spPr>
      </p:pic>
      <p:sp>
        <p:nvSpPr>
          <p:cNvPr id="118" name="Google Shape;142;p6"/>
          <p:cNvSpPr/>
          <p:nvPr/>
        </p:nvSpPr>
        <p:spPr>
          <a:xfrm>
            <a:off x="7503480" y="7929720"/>
            <a:ext cx="63374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48;p7"/>
          <p:cNvSpPr/>
          <p:nvPr/>
        </p:nvSpPr>
        <p:spPr>
          <a:xfrm>
            <a:off x="880920" y="896400"/>
            <a:ext cx="59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3700" spc="-1" strike="noStrike">
                <a:solidFill>
                  <a:srgbClr val="f0fcff"/>
                </a:solidFill>
                <a:latin typeface="Spline Sans"/>
                <a:ea typeface="Spline Sans"/>
              </a:rPr>
              <a:t>Shell Setup in prj.conf</a:t>
            </a:r>
            <a:endParaRPr b="0" lang="en-US" sz="3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149;p7"/>
          <p:cNvSpPr/>
          <p:nvPr/>
        </p:nvSpPr>
        <p:spPr>
          <a:xfrm>
            <a:off x="880920" y="1918800"/>
            <a:ext cx="6326640" cy="2599920"/>
          </a:xfrm>
          <a:prstGeom prst="roundRect">
            <a:avLst>
              <a:gd name="adj" fmla="val 12345"/>
            </a:avLst>
          </a:prstGeom>
          <a:solidFill>
            <a:srgbClr val="0a081b"/>
          </a:solidFill>
          <a:ln w="22850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150;p7"/>
          <p:cNvSpPr/>
          <p:nvPr/>
        </p:nvSpPr>
        <p:spPr>
          <a:xfrm>
            <a:off x="1117800" y="2155680"/>
            <a:ext cx="345420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e0e4e6"/>
                </a:solidFill>
                <a:latin typeface="Spline Sans"/>
                <a:ea typeface="Spline Sans"/>
              </a:rPr>
              <a:t>Enable Shell Subsystem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151;p7"/>
          <p:cNvSpPr/>
          <p:nvPr/>
        </p:nvSpPr>
        <p:spPr>
          <a:xfrm>
            <a:off x="1117800" y="2693520"/>
            <a:ext cx="5853240" cy="662760"/>
          </a:xfrm>
          <a:prstGeom prst="roundRect">
            <a:avLst>
              <a:gd name="adj" fmla="val 48395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152;p7"/>
          <p:cNvSpPr/>
          <p:nvPr/>
        </p:nvSpPr>
        <p:spPr>
          <a:xfrm>
            <a:off x="1107360" y="2693520"/>
            <a:ext cx="5874480" cy="662760"/>
          </a:xfrm>
          <a:prstGeom prst="roundRect">
            <a:avLst>
              <a:gd name="adj" fmla="val 4839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153;p7"/>
          <p:cNvSpPr/>
          <p:nvPr/>
        </p:nvSpPr>
        <p:spPr>
          <a:xfrm>
            <a:off x="1321200" y="2854080"/>
            <a:ext cx="544644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CONFIG_SHELL=y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154;p7"/>
          <p:cNvSpPr/>
          <p:nvPr/>
        </p:nvSpPr>
        <p:spPr>
          <a:xfrm>
            <a:off x="1117800" y="3597480"/>
            <a:ext cx="58532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e0e4e6"/>
                </a:solidFill>
                <a:latin typeface="Barlow"/>
                <a:ea typeface="Barlow"/>
              </a:rPr>
              <a:t>This activates the shell framework and core functionality, including command parsing, history, and tab completion.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155;p7"/>
          <p:cNvSpPr/>
          <p:nvPr/>
        </p:nvSpPr>
        <p:spPr>
          <a:xfrm>
            <a:off x="7422120" y="1918800"/>
            <a:ext cx="6327000" cy="2599920"/>
          </a:xfrm>
          <a:prstGeom prst="roundRect">
            <a:avLst>
              <a:gd name="adj" fmla="val 12345"/>
            </a:avLst>
          </a:prstGeom>
          <a:solidFill>
            <a:srgbClr val="0a081b"/>
          </a:solidFill>
          <a:ln w="22850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156;p7"/>
          <p:cNvSpPr/>
          <p:nvPr/>
        </p:nvSpPr>
        <p:spPr>
          <a:xfrm>
            <a:off x="7659000" y="2155680"/>
            <a:ext cx="23774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e0e4e6"/>
                </a:solidFill>
                <a:latin typeface="Spline Sans"/>
                <a:ea typeface="Spline Sans"/>
              </a:rPr>
              <a:t>Configure Console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157;p7"/>
          <p:cNvSpPr/>
          <p:nvPr/>
        </p:nvSpPr>
        <p:spPr>
          <a:xfrm>
            <a:off x="7659000" y="2693520"/>
            <a:ext cx="5853240" cy="662760"/>
          </a:xfrm>
          <a:prstGeom prst="roundRect">
            <a:avLst>
              <a:gd name="adj" fmla="val 48395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Google Shape;158;p7"/>
          <p:cNvSpPr/>
          <p:nvPr/>
        </p:nvSpPr>
        <p:spPr>
          <a:xfrm>
            <a:off x="7648200" y="2693520"/>
            <a:ext cx="5874480" cy="662760"/>
          </a:xfrm>
          <a:prstGeom prst="roundRect">
            <a:avLst>
              <a:gd name="adj" fmla="val 4839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159;p7"/>
          <p:cNvSpPr/>
          <p:nvPr/>
        </p:nvSpPr>
        <p:spPr>
          <a:xfrm>
            <a:off x="7862400" y="2854080"/>
            <a:ext cx="544644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CONFIG_UART_CONSOLE=y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Google Shape;160;p7"/>
          <p:cNvSpPr/>
          <p:nvPr/>
        </p:nvSpPr>
        <p:spPr>
          <a:xfrm>
            <a:off x="7659000" y="3309480"/>
            <a:ext cx="58532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e0e4e6"/>
                </a:solidFill>
                <a:latin typeface="Barlow"/>
                <a:ea typeface="Barlow"/>
              </a:rPr>
              <a:t>Directs console output to the system's UART interface, typically connected to a serial terminal on your development computer.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161;p7"/>
          <p:cNvSpPr/>
          <p:nvPr/>
        </p:nvSpPr>
        <p:spPr>
          <a:xfrm>
            <a:off x="880920" y="4732920"/>
            <a:ext cx="6326640" cy="2599920"/>
          </a:xfrm>
          <a:prstGeom prst="roundRect">
            <a:avLst>
              <a:gd name="adj" fmla="val 12345"/>
            </a:avLst>
          </a:prstGeom>
          <a:solidFill>
            <a:srgbClr val="0a081b"/>
          </a:solidFill>
          <a:ln w="22850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Google Shape;162;p7"/>
          <p:cNvSpPr/>
          <p:nvPr/>
        </p:nvSpPr>
        <p:spPr>
          <a:xfrm>
            <a:off x="1117800" y="4969800"/>
            <a:ext cx="23774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e0e4e6"/>
                </a:solidFill>
                <a:latin typeface="Spline Sans"/>
                <a:ea typeface="Spline Sans"/>
              </a:rPr>
              <a:t>Set Shell Backend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Google Shape;163;p7"/>
          <p:cNvSpPr/>
          <p:nvPr/>
        </p:nvSpPr>
        <p:spPr>
          <a:xfrm>
            <a:off x="1117800" y="5507640"/>
            <a:ext cx="5853240" cy="662760"/>
          </a:xfrm>
          <a:prstGeom prst="roundRect">
            <a:avLst>
              <a:gd name="adj" fmla="val 48395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Google Shape;164;p7"/>
          <p:cNvSpPr/>
          <p:nvPr/>
        </p:nvSpPr>
        <p:spPr>
          <a:xfrm>
            <a:off x="1107360" y="5507640"/>
            <a:ext cx="5874480" cy="662760"/>
          </a:xfrm>
          <a:prstGeom prst="roundRect">
            <a:avLst>
              <a:gd name="adj" fmla="val 4839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165;p7"/>
          <p:cNvSpPr/>
          <p:nvPr/>
        </p:nvSpPr>
        <p:spPr>
          <a:xfrm>
            <a:off x="1321200" y="5668200"/>
            <a:ext cx="544644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CONFIG_SHELL_BACKEND_SERIAL=y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Google Shape;166;p7"/>
          <p:cNvSpPr/>
          <p:nvPr/>
        </p:nvSpPr>
        <p:spPr>
          <a:xfrm>
            <a:off x="1117800" y="6411600"/>
            <a:ext cx="58532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e0e4e6"/>
                </a:solidFill>
                <a:latin typeface="Barlow"/>
                <a:ea typeface="Barlow"/>
              </a:rPr>
              <a:t>Configures the shell to use the serial (UART) backend for interactive command input and output.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167;p7"/>
          <p:cNvSpPr/>
          <p:nvPr/>
        </p:nvSpPr>
        <p:spPr>
          <a:xfrm>
            <a:off x="7422120" y="4732920"/>
            <a:ext cx="6327000" cy="2599920"/>
          </a:xfrm>
          <a:prstGeom prst="roundRect">
            <a:avLst>
              <a:gd name="adj" fmla="val 12345"/>
            </a:avLst>
          </a:prstGeom>
          <a:solidFill>
            <a:srgbClr val="0a081b"/>
          </a:solidFill>
          <a:ln w="22850">
            <a:solidFill>
              <a:srgbClr val="0912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Google Shape;168;p7"/>
          <p:cNvSpPr/>
          <p:nvPr/>
        </p:nvSpPr>
        <p:spPr>
          <a:xfrm>
            <a:off x="7659000" y="4969800"/>
            <a:ext cx="23774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e0e4e6"/>
                </a:solidFill>
                <a:latin typeface="Spline Sans"/>
                <a:ea typeface="Spline Sans"/>
              </a:rPr>
              <a:t>Enable Basic Output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Google Shape;169;p7"/>
          <p:cNvSpPr/>
          <p:nvPr/>
        </p:nvSpPr>
        <p:spPr>
          <a:xfrm>
            <a:off x="7659000" y="5507640"/>
            <a:ext cx="5853240" cy="662760"/>
          </a:xfrm>
          <a:prstGeom prst="roundRect">
            <a:avLst>
              <a:gd name="adj" fmla="val 48395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170;p7"/>
          <p:cNvSpPr/>
          <p:nvPr/>
        </p:nvSpPr>
        <p:spPr>
          <a:xfrm>
            <a:off x="7648200" y="5507640"/>
            <a:ext cx="5874480" cy="662760"/>
          </a:xfrm>
          <a:prstGeom prst="roundRect">
            <a:avLst>
              <a:gd name="adj" fmla="val 4839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171;p7"/>
          <p:cNvSpPr/>
          <p:nvPr/>
        </p:nvSpPr>
        <p:spPr>
          <a:xfrm>
            <a:off x="7862400" y="5668200"/>
            <a:ext cx="544644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CONFIG_PRINTK=y  # Optional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Google Shape;172;p7"/>
          <p:cNvSpPr/>
          <p:nvPr/>
        </p:nvSpPr>
        <p:spPr>
          <a:xfrm>
            <a:off x="7659000" y="6411600"/>
            <a:ext cx="58532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e0e4e6"/>
                </a:solidFill>
                <a:latin typeface="Barlow"/>
                <a:ea typeface="Barlow"/>
              </a:rPr>
              <a:t>Enables the </a:t>
            </a:r>
            <a:r>
              <a:rPr b="0" lang="en-US" sz="16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printk()</a:t>
            </a:r>
            <a:r>
              <a:rPr b="0" lang="en-US" sz="1650" spc="-1" strike="noStrike">
                <a:solidFill>
                  <a:srgbClr val="e0e4e6"/>
                </a:solidFill>
                <a:latin typeface="Barlow"/>
                <a:ea typeface="Barlow"/>
              </a:rPr>
              <a:t> function for basic output messages through the console.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78;p8"/>
          <p:cNvSpPr/>
          <p:nvPr/>
        </p:nvSpPr>
        <p:spPr>
          <a:xfrm>
            <a:off x="834840" y="655920"/>
            <a:ext cx="488016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0fcff"/>
                </a:solidFill>
                <a:latin typeface="Spline Sans"/>
                <a:ea typeface="Spline Sans"/>
              </a:rPr>
              <a:t>Built-in Shell Commands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5" name="Google Shape;179;p8" descr="preencoded.png"/>
          <p:cNvPicPr/>
          <p:nvPr/>
        </p:nvPicPr>
        <p:blipFill>
          <a:blip r:embed="rId1"/>
          <a:stretch/>
        </p:blipFill>
        <p:spPr>
          <a:xfrm>
            <a:off x="834840" y="1493280"/>
            <a:ext cx="6291000" cy="6291000"/>
          </a:xfrm>
          <a:prstGeom prst="rect">
            <a:avLst/>
          </a:prstGeom>
          <a:ln w="0">
            <a:noFill/>
          </a:ln>
        </p:spPr>
      </p:pic>
      <p:sp>
        <p:nvSpPr>
          <p:cNvPr id="146" name="Google Shape;180;p8"/>
          <p:cNvSpPr/>
          <p:nvPr/>
        </p:nvSpPr>
        <p:spPr>
          <a:xfrm>
            <a:off x="7511760" y="1458360"/>
            <a:ext cx="62910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Zephyr's shell comes with several useful built-in commands: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181;p8"/>
          <p:cNvSpPr/>
          <p:nvPr/>
        </p:nvSpPr>
        <p:spPr>
          <a:xfrm>
            <a:off x="7511760" y="1881000"/>
            <a:ext cx="6661440" cy="5434200"/>
          </a:xfrm>
          <a:prstGeom prst="roundRect">
            <a:avLst>
              <a:gd name="adj" fmla="val 5886"/>
            </a:avLst>
          </a:prstGeom>
          <a:noFill/>
          <a:ln w="9525">
            <a:solidFill>
              <a:srgbClr val="ffffff">
                <a:alpha val="2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182;p8"/>
          <p:cNvSpPr/>
          <p:nvPr/>
        </p:nvSpPr>
        <p:spPr>
          <a:xfrm>
            <a:off x="7519680" y="1888560"/>
            <a:ext cx="6275880" cy="88164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183;p8"/>
          <p:cNvSpPr/>
          <p:nvPr/>
        </p:nvSpPr>
        <p:spPr>
          <a:xfrm>
            <a:off x="7674480" y="1989000"/>
            <a:ext cx="28238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help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184;p8"/>
          <p:cNvSpPr/>
          <p:nvPr/>
        </p:nvSpPr>
        <p:spPr>
          <a:xfrm>
            <a:off x="9601200" y="1989000"/>
            <a:ext cx="4173120" cy="78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Lists all available commands or provides details on specific commands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185;p8"/>
          <p:cNvSpPr/>
          <p:nvPr/>
        </p:nvSpPr>
        <p:spPr>
          <a:xfrm>
            <a:off x="7519680" y="2585520"/>
            <a:ext cx="6275880" cy="6969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186;p8"/>
          <p:cNvSpPr/>
          <p:nvPr/>
        </p:nvSpPr>
        <p:spPr>
          <a:xfrm>
            <a:off x="7674480" y="2914920"/>
            <a:ext cx="28238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kernel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187;p8"/>
          <p:cNvSpPr/>
          <p:nvPr/>
        </p:nvSpPr>
        <p:spPr>
          <a:xfrm>
            <a:off x="9601200" y="2838600"/>
            <a:ext cx="389268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Displays thread information, uptime, and other kernel statistics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Google Shape;188;p8"/>
          <p:cNvSpPr/>
          <p:nvPr/>
        </p:nvSpPr>
        <p:spPr>
          <a:xfrm>
            <a:off x="7519680" y="3659760"/>
            <a:ext cx="6275520" cy="6969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189;p8"/>
          <p:cNvSpPr/>
          <p:nvPr/>
        </p:nvSpPr>
        <p:spPr>
          <a:xfrm>
            <a:off x="7674480" y="3688200"/>
            <a:ext cx="28238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device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190;p8"/>
          <p:cNvSpPr/>
          <p:nvPr/>
        </p:nvSpPr>
        <p:spPr>
          <a:xfrm>
            <a:off x="9601200" y="3688200"/>
            <a:ext cx="457200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Shows all initialized device drivers in the system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191;p8"/>
          <p:cNvSpPr/>
          <p:nvPr/>
        </p:nvSpPr>
        <p:spPr>
          <a:xfrm>
            <a:off x="7519680" y="4246560"/>
            <a:ext cx="6275880" cy="43020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Google Shape;192;p8"/>
          <p:cNvSpPr/>
          <p:nvPr/>
        </p:nvSpPr>
        <p:spPr>
          <a:xfrm>
            <a:off x="7674480" y="4385520"/>
            <a:ext cx="28238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log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193;p8"/>
          <p:cNvSpPr/>
          <p:nvPr/>
        </p:nvSpPr>
        <p:spPr>
          <a:xfrm>
            <a:off x="9601200" y="4205520"/>
            <a:ext cx="480060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Controls and views logging levels for different modules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Google Shape;194;p8"/>
          <p:cNvSpPr/>
          <p:nvPr/>
        </p:nvSpPr>
        <p:spPr>
          <a:xfrm>
            <a:off x="7519680" y="5038920"/>
            <a:ext cx="6275520" cy="8449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195;p8"/>
          <p:cNvSpPr/>
          <p:nvPr/>
        </p:nvSpPr>
        <p:spPr>
          <a:xfrm>
            <a:off x="7674480" y="5158800"/>
            <a:ext cx="28238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version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Google Shape;196;p8"/>
          <p:cNvSpPr/>
          <p:nvPr/>
        </p:nvSpPr>
        <p:spPr>
          <a:xfrm>
            <a:off x="9601200" y="5158800"/>
            <a:ext cx="52578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Shows the Zephyr version information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197;p8"/>
          <p:cNvSpPr/>
          <p:nvPr/>
        </p:nvSpPr>
        <p:spPr>
          <a:xfrm>
            <a:off x="7519680" y="5659920"/>
            <a:ext cx="6275520" cy="6969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198;p8"/>
          <p:cNvSpPr/>
          <p:nvPr/>
        </p:nvSpPr>
        <p:spPr>
          <a:xfrm>
            <a:off x="7674480" y="5913000"/>
            <a:ext cx="28238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resize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Google Shape;199;p8"/>
          <p:cNvSpPr/>
          <p:nvPr/>
        </p:nvSpPr>
        <p:spPr>
          <a:xfrm>
            <a:off x="9601200" y="5985000"/>
            <a:ext cx="335340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Adjusts the terminal dimensions for proper formatting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205;p9"/>
          <p:cNvSpPr/>
          <p:nvPr/>
        </p:nvSpPr>
        <p:spPr>
          <a:xfrm>
            <a:off x="697680" y="547920"/>
            <a:ext cx="524592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f0fcff"/>
                </a:solidFill>
                <a:latin typeface="Spline Sans"/>
                <a:ea typeface="Spline Sans"/>
              </a:rPr>
              <a:t>Creating a Custom Shell Command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206;p9"/>
          <p:cNvSpPr/>
          <p:nvPr/>
        </p:nvSpPr>
        <p:spPr>
          <a:xfrm>
            <a:off x="697680" y="1218600"/>
            <a:ext cx="645912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Adding your own commands to the shell is straightforward using the </a:t>
            </a: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SHELL_CMD_REGISTER()</a:t>
            </a: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 macro: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Google Shape;207;p9"/>
          <p:cNvSpPr/>
          <p:nvPr/>
        </p:nvSpPr>
        <p:spPr>
          <a:xfrm>
            <a:off x="697680" y="2492280"/>
            <a:ext cx="6459120" cy="2265480"/>
          </a:xfrm>
          <a:prstGeom prst="roundRect">
            <a:avLst>
              <a:gd name="adj" fmla="val 8576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Google Shape;208;p9"/>
          <p:cNvSpPr/>
          <p:nvPr/>
        </p:nvSpPr>
        <p:spPr>
          <a:xfrm>
            <a:off x="691200" y="2523960"/>
            <a:ext cx="6472080" cy="3154320"/>
          </a:xfrm>
          <a:prstGeom prst="roundRect">
            <a:avLst>
              <a:gd name="adj" fmla="val 858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209;p9"/>
          <p:cNvSpPr/>
          <p:nvPr/>
        </p:nvSpPr>
        <p:spPr>
          <a:xfrm>
            <a:off x="820800" y="2513160"/>
            <a:ext cx="6212880" cy="30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static int cmd_my_command(const struct shell *shell,                  size_t argc, char **argv)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{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shell_print(shell, "Command executed!");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return 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SHELL_CMD_REGISTER(mycommand, NULL,    "My custom command description",    cmd_my_command);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Google Shape;210;p9"/>
          <p:cNvSpPr/>
          <p:nvPr/>
        </p:nvSpPr>
        <p:spPr>
          <a:xfrm>
            <a:off x="697680" y="5894640"/>
            <a:ext cx="645912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The function signature requires: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Google Shape;211;p9"/>
          <p:cNvSpPr/>
          <p:nvPr/>
        </p:nvSpPr>
        <p:spPr>
          <a:xfrm>
            <a:off x="697680" y="6422760"/>
            <a:ext cx="645912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A pointer to the shell instance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Google Shape;212;p9"/>
          <p:cNvSpPr/>
          <p:nvPr/>
        </p:nvSpPr>
        <p:spPr>
          <a:xfrm>
            <a:off x="697680" y="6726960"/>
            <a:ext cx="645912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The argument count (argc)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Google Shape;213;p9"/>
          <p:cNvSpPr/>
          <p:nvPr/>
        </p:nvSpPr>
        <p:spPr>
          <a:xfrm>
            <a:off x="697680" y="7031160"/>
            <a:ext cx="645912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8088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An array of argument strings (argv)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5" name="Google Shape;214;p9" descr="preencoded.png"/>
          <p:cNvPicPr/>
          <p:nvPr/>
        </p:nvPicPr>
        <p:blipFill>
          <a:blip r:embed="rId1"/>
          <a:stretch/>
        </p:blipFill>
        <p:spPr>
          <a:xfrm>
            <a:off x="7480800" y="1247760"/>
            <a:ext cx="6459120" cy="6459120"/>
          </a:xfrm>
          <a:prstGeom prst="rect">
            <a:avLst/>
          </a:prstGeom>
          <a:ln w="0">
            <a:noFill/>
          </a:ln>
        </p:spPr>
      </p:pic>
      <p:sp>
        <p:nvSpPr>
          <p:cNvPr id="176" name="Google Shape;215;p9"/>
          <p:cNvSpPr/>
          <p:nvPr/>
        </p:nvSpPr>
        <p:spPr>
          <a:xfrm>
            <a:off x="6544800" y="7673400"/>
            <a:ext cx="64591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0e4e6"/>
                </a:solidFill>
                <a:latin typeface="Barlow"/>
                <a:ea typeface="Barlow"/>
              </a:rPr>
              <a:t>Commands can be organized in subcommand groups using </a:t>
            </a:r>
            <a:r>
              <a:rPr b="0" lang="en-US" sz="10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SHELL_STATIC_SUBCMD_SET_CREATE()</a:t>
            </a:r>
            <a:r>
              <a:rPr b="0" lang="en-US" sz="1000" spc="-1" strike="noStrike">
                <a:solidFill>
                  <a:srgbClr val="e0e4e6"/>
                </a:solidFill>
                <a:latin typeface="Barlow"/>
                <a:ea typeface="Barlow"/>
              </a:rPr>
              <a:t> for more complex command hierarchies. Use </a:t>
            </a:r>
            <a:r>
              <a:rPr b="0" lang="en-US" sz="100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shell_print()</a:t>
            </a:r>
            <a:r>
              <a:rPr b="0" lang="en-US" sz="1000" spc="-1" strike="noStrike">
                <a:solidFill>
                  <a:srgbClr val="e0e4e6"/>
                </a:solidFill>
                <a:latin typeface="Barlow"/>
                <a:ea typeface="Barlow"/>
              </a:rPr>
              <a:t> to display output to the user.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221;p10"/>
          <p:cNvSpPr/>
          <p:nvPr/>
        </p:nvSpPr>
        <p:spPr>
          <a:xfrm>
            <a:off x="880920" y="1556640"/>
            <a:ext cx="78058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Shell Command Example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" name="Google Shape;222;p10" descr="preencoded.png"/>
          <p:cNvPicPr/>
          <p:nvPr/>
        </p:nvPicPr>
        <p:blipFill>
          <a:blip r:embed="rId1"/>
          <a:stretch/>
        </p:blipFill>
        <p:spPr>
          <a:xfrm>
            <a:off x="880920" y="2759400"/>
            <a:ext cx="12867840" cy="1006560"/>
          </a:xfrm>
          <a:prstGeom prst="rect">
            <a:avLst/>
          </a:prstGeom>
          <a:ln w="0">
            <a:noFill/>
          </a:ln>
        </p:spPr>
      </p:pic>
      <p:sp>
        <p:nvSpPr>
          <p:cNvPr id="179" name="Google Shape;223;p10"/>
          <p:cNvSpPr/>
          <p:nvPr/>
        </p:nvSpPr>
        <p:spPr>
          <a:xfrm>
            <a:off x="1132920" y="4017960"/>
            <a:ext cx="412488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e4e6"/>
                </a:solidFill>
                <a:latin typeface="Spline Sans"/>
                <a:ea typeface="Spline Sans"/>
              </a:rPr>
              <a:t>Study Existing Examples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Google Shape;224;p10"/>
          <p:cNvSpPr/>
          <p:nvPr/>
        </p:nvSpPr>
        <p:spPr>
          <a:xfrm>
            <a:off x="1132920" y="4518720"/>
            <a:ext cx="123645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Examine Zephyr's built-in command implementations in </a:t>
            </a: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kernel_service.c</a:t>
            </a: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 and </a:t>
            </a: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sensor_shell.c</a:t>
            </a: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 to understand best practices for command design.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225;p10"/>
          <p:cNvSpPr/>
          <p:nvPr/>
        </p:nvSpPr>
        <p:spPr>
          <a:xfrm>
            <a:off x="880920" y="5866920"/>
            <a:ext cx="1286784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The examples in these files demonstrate advanced features like parameter validation, subcommand handling, and formatting output for better user experience.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231;p11"/>
          <p:cNvSpPr/>
          <p:nvPr/>
        </p:nvSpPr>
        <p:spPr>
          <a:xfrm>
            <a:off x="880920" y="1936080"/>
            <a:ext cx="559440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Live Activity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Google Shape;232;p11"/>
          <p:cNvSpPr/>
          <p:nvPr/>
        </p:nvSpPr>
        <p:spPr>
          <a:xfrm>
            <a:off x="880920" y="313884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Add shell command to your project (Sensor sample)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Google Shape;233;p11"/>
          <p:cNvSpPr/>
          <p:nvPr/>
        </p:nvSpPr>
        <p:spPr>
          <a:xfrm>
            <a:off x="880920" y="3825000"/>
            <a:ext cx="12867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- Create </a:t>
            </a: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activate</a:t>
            </a: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 command that will get an temperature as argument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Google Shape;234;p11"/>
          <p:cNvSpPr/>
          <p:nvPr/>
        </p:nvSpPr>
        <p:spPr>
          <a:xfrm>
            <a:off x="880920" y="451872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       </a:t>
            </a: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- If the current temperature is higher than the argument print "it's too hot"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Google Shape;235;p11"/>
          <p:cNvSpPr/>
          <p:nvPr/>
        </p:nvSpPr>
        <p:spPr>
          <a:xfrm>
            <a:off x="880920" y="520452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- Run and verify over UART shell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Google Shape;236;p11"/>
          <p:cNvSpPr/>
          <p:nvPr/>
        </p:nvSpPr>
        <p:spPr>
          <a:xfrm>
            <a:off x="880920" y="5890680"/>
            <a:ext cx="128678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2025-07-02T16:32:49Z</dcterms:created>
  <dc:creator/>
  <dc:description/>
  <dc:language>en-US</dc:language>
  <cp:lastModifiedBy/>
  <dcterms:modified xsi:type="dcterms:W3CDTF">2025-07-09T12:58:33Z</dcterms:modified>
  <cp:revision>1</cp:revision>
  <dc:subject/>
  <dc:title/>
</cp:coreProperties>
</file>