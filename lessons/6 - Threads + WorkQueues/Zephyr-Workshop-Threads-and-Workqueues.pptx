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E405CB2-5B57-4606-9A12-5159C9D1436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9831A4-2770-4B83-8295-B29F30A8A4E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5F37C4-6135-4D13-857A-23FA0EF8D2E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DB6CB1-A574-4A93-A3B8-EC6A3F822ED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61D1F3-C360-4CFF-BB4E-82E2302C986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FE3F21-F741-46AC-A3FA-70836975C9A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405131-1CA8-4C3E-837F-AEB0C281F93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E5BFC0-F16A-4612-A3D8-01A258C6418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742C5C-E6C4-4EE8-8E42-A5F0E2C0556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728A77-3433-4B17-AD36-8FCB27AB848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02702D-CBA4-49CD-BE8F-14675BE3C38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21DE67-E220-4817-A45D-CBE5ED3B7B71}" type="slidenum"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1;p12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" name="Google Shape;12;p12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Google Shape;13;p12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7;p2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6" name="Google Shape;48;p2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Google Shape;49;p2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5;p13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16;p13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Google Shape;17;p13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title 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9;p14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20;p14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Google Shape;21;p14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3;p15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21" name="Google Shape;24;p15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Google Shape;25;p15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7;p16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26" name="Google Shape;28;p16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Google Shape;29;p16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1;p17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32;p17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Google Shape;33;p17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8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36" name="Google Shape;36;p18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" name="Google Shape;37;p18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39;p19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40;p19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" name="Google Shape;41;p19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3;p2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44;p2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" name="Google Shape;45;p20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43;p2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51" name="Google Shape;44;p2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Google Shape;45;p20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56;p1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62" name="Google Shape;57;p1"/>
          <p:cNvSpPr/>
          <p:nvPr/>
        </p:nvSpPr>
        <p:spPr>
          <a:xfrm>
            <a:off x="6367320" y="2823840"/>
            <a:ext cx="7381080" cy="13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Zephyr Workshop – Threads &amp; Workqueues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Google Shape;58;p1"/>
          <p:cNvSpPr/>
          <p:nvPr/>
        </p:nvSpPr>
        <p:spPr>
          <a:xfrm>
            <a:off x="6367320" y="4599720"/>
            <a:ext cx="7381080" cy="8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An in-depth exploration of Zephyr's threading model and workqueue system for efficient embedded application development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/>
          <p:nvPr/>
        </p:nvSpPr>
        <p:spPr>
          <a:xfrm>
            <a:off x="797040" y="626040"/>
            <a:ext cx="4215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f0fcff"/>
                </a:solidFill>
                <a:latin typeface="Spline Sans"/>
                <a:ea typeface="Spline Sans"/>
              </a:rPr>
              <a:t>What is a Thread in Zephyr?</a:t>
            </a:r>
            <a:endParaRPr b="0" lang="en-U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97040" y="1954440"/>
            <a:ext cx="63370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7152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Basic unit of execution in Zephyr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97040" y="2302200"/>
            <a:ext cx="63370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7152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Each thread has: stack, priority, entry point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97040" y="2649960"/>
            <a:ext cx="63370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7152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Can be preemptive or cooperative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97040" y="2997720"/>
            <a:ext cx="63370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71520">
              <a:lnSpc>
                <a:spcPct val="160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Used for independent, long-running tasks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97040" y="3426840"/>
            <a:ext cx="63370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97040" y="3294000"/>
            <a:ext cx="633708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97040" y="4740120"/>
            <a:ext cx="633708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8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Threads are ideal for independent, long-running tasks that may block or require significant processing time without affecting system responsiveness.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" name="Google Shape;72;p2" descr="preencoded.png"/>
          <p:cNvPicPr/>
          <p:nvPr/>
        </p:nvPicPr>
        <p:blipFill>
          <a:blip r:embed="rId1"/>
          <a:stretch/>
        </p:blipFill>
        <p:spPr>
          <a:xfrm>
            <a:off x="7503480" y="1425600"/>
            <a:ext cx="6337080" cy="6337080"/>
          </a:xfrm>
          <a:prstGeom prst="rect">
            <a:avLst/>
          </a:prstGeom>
          <a:ln w="0">
            <a:noFill/>
          </a:ln>
        </p:spPr>
      </p:pic>
      <p:sp>
        <p:nvSpPr>
          <p:cNvPr id="73" name="Google Shape;73;p2"/>
          <p:cNvSpPr/>
          <p:nvPr/>
        </p:nvSpPr>
        <p:spPr>
          <a:xfrm>
            <a:off x="7503480" y="7929720"/>
            <a:ext cx="633708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9;p3"/>
          <p:cNvSpPr/>
          <p:nvPr/>
        </p:nvSpPr>
        <p:spPr>
          <a:xfrm>
            <a:off x="873000" y="686880"/>
            <a:ext cx="552744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3250" spc="-1" strike="noStrike">
                <a:solidFill>
                  <a:srgbClr val="f0fcff"/>
                </a:solidFill>
                <a:latin typeface="Spline Sans"/>
                <a:ea typeface="Spline Sans"/>
              </a:rPr>
              <a:t>Thread API Concepts</a:t>
            </a:r>
            <a:endParaRPr b="0" lang="en-US" sz="3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Google Shape;80;p3" descr="preencoded.png"/>
          <p:cNvPicPr/>
          <p:nvPr/>
        </p:nvPicPr>
        <p:blipFill>
          <a:blip r:embed="rId1"/>
          <a:stretch/>
        </p:blipFill>
        <p:spPr>
          <a:xfrm>
            <a:off x="873000" y="1580400"/>
            <a:ext cx="6441480" cy="747720"/>
          </a:xfrm>
          <a:prstGeom prst="rect">
            <a:avLst/>
          </a:prstGeom>
          <a:ln w="0">
            <a:noFill/>
          </a:ln>
        </p:spPr>
      </p:pic>
      <p:sp>
        <p:nvSpPr>
          <p:cNvPr id="76" name="Google Shape;81;p3"/>
          <p:cNvSpPr/>
          <p:nvPr/>
        </p:nvSpPr>
        <p:spPr>
          <a:xfrm>
            <a:off x="1060200" y="2516040"/>
            <a:ext cx="2077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e4e6"/>
                </a:solidFill>
                <a:latin typeface="Spline Sans"/>
                <a:ea typeface="Spline Sans"/>
              </a:rPr>
              <a:t>Creation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Google Shape;82;p3"/>
          <p:cNvSpPr/>
          <p:nvPr/>
        </p:nvSpPr>
        <p:spPr>
          <a:xfrm>
            <a:off x="1060200" y="2986200"/>
            <a:ext cx="6067440" cy="578880"/>
          </a:xfrm>
          <a:prstGeom prst="roundRect">
            <a:avLst>
              <a:gd name="adj" fmla="val 48410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Google Shape;83;p3"/>
          <p:cNvSpPr/>
          <p:nvPr/>
        </p:nvSpPr>
        <p:spPr>
          <a:xfrm>
            <a:off x="1050840" y="2986200"/>
            <a:ext cx="6085800" cy="578880"/>
          </a:xfrm>
          <a:prstGeom prst="roundRect">
            <a:avLst>
              <a:gd name="adj" fmla="val 4841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Google Shape;84;p3"/>
          <p:cNvSpPr/>
          <p:nvPr/>
        </p:nvSpPr>
        <p:spPr>
          <a:xfrm>
            <a:off x="1238040" y="3126240"/>
            <a:ext cx="571176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k_thread_create()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Google Shape;85;p3"/>
          <p:cNvSpPr/>
          <p:nvPr/>
        </p:nvSpPr>
        <p:spPr>
          <a:xfrm>
            <a:off x="1060200" y="3776040"/>
            <a:ext cx="60674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0e4e6"/>
                </a:solidFill>
                <a:latin typeface="Barlow"/>
                <a:ea typeface="Barlow"/>
              </a:rPr>
              <a:t>Runtime thread creation with dynamic allocation. Thread parameters include stack pointer, entry function, and priority.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" name="Google Shape;86;p3" descr="preencoded.png"/>
          <p:cNvPicPr/>
          <p:nvPr/>
        </p:nvPicPr>
        <p:blipFill>
          <a:blip r:embed="rId2"/>
          <a:stretch/>
        </p:blipFill>
        <p:spPr>
          <a:xfrm>
            <a:off x="7315200" y="1580400"/>
            <a:ext cx="6441480" cy="747720"/>
          </a:xfrm>
          <a:prstGeom prst="rect">
            <a:avLst/>
          </a:prstGeom>
          <a:ln w="0">
            <a:noFill/>
          </a:ln>
        </p:spPr>
      </p:pic>
      <p:sp>
        <p:nvSpPr>
          <p:cNvPr id="82" name="Google Shape;87;p3"/>
          <p:cNvSpPr/>
          <p:nvPr/>
        </p:nvSpPr>
        <p:spPr>
          <a:xfrm>
            <a:off x="7502400" y="2516040"/>
            <a:ext cx="2077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e4e6"/>
                </a:solidFill>
                <a:latin typeface="Spline Sans"/>
                <a:ea typeface="Spline Sans"/>
              </a:rPr>
              <a:t>Definition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Google Shape;88;p3"/>
          <p:cNvSpPr/>
          <p:nvPr/>
        </p:nvSpPr>
        <p:spPr>
          <a:xfrm>
            <a:off x="7502400" y="2986200"/>
            <a:ext cx="6067440" cy="578880"/>
          </a:xfrm>
          <a:prstGeom prst="roundRect">
            <a:avLst>
              <a:gd name="adj" fmla="val 48410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Google Shape;89;p3"/>
          <p:cNvSpPr/>
          <p:nvPr/>
        </p:nvSpPr>
        <p:spPr>
          <a:xfrm>
            <a:off x="7493040" y="2986200"/>
            <a:ext cx="6085800" cy="578880"/>
          </a:xfrm>
          <a:prstGeom prst="roundRect">
            <a:avLst>
              <a:gd name="adj" fmla="val 4841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Google Shape;90;p3"/>
          <p:cNvSpPr/>
          <p:nvPr/>
        </p:nvSpPr>
        <p:spPr>
          <a:xfrm>
            <a:off x="7679880" y="3126240"/>
            <a:ext cx="571176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K_THREAD_DEFINE()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Google Shape;91;p3"/>
          <p:cNvSpPr/>
          <p:nvPr/>
        </p:nvSpPr>
        <p:spPr>
          <a:xfrm>
            <a:off x="7502400" y="3776040"/>
            <a:ext cx="60674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0e4e6"/>
                </a:solidFill>
                <a:latin typeface="Barlow"/>
                <a:ea typeface="Barlow"/>
              </a:rPr>
              <a:t>Static thread definition at compile time. Optimizes memory usage and startup performance.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Google Shape;92;p3" descr="preencoded.png"/>
          <p:cNvPicPr/>
          <p:nvPr/>
        </p:nvPicPr>
        <p:blipFill>
          <a:blip r:embed="rId3"/>
          <a:stretch/>
        </p:blipFill>
        <p:spPr>
          <a:xfrm>
            <a:off x="873000" y="4561560"/>
            <a:ext cx="6441480" cy="747720"/>
          </a:xfrm>
          <a:prstGeom prst="rect">
            <a:avLst/>
          </a:prstGeom>
          <a:ln w="0">
            <a:noFill/>
          </a:ln>
        </p:spPr>
      </p:pic>
      <p:sp>
        <p:nvSpPr>
          <p:cNvPr id="88" name="Google Shape;93;p3"/>
          <p:cNvSpPr/>
          <p:nvPr/>
        </p:nvSpPr>
        <p:spPr>
          <a:xfrm>
            <a:off x="1060200" y="5496840"/>
            <a:ext cx="30542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e4e6"/>
                </a:solidFill>
                <a:latin typeface="Spline Sans"/>
                <a:ea typeface="Spline Sans"/>
              </a:rPr>
              <a:t>Control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94;p3"/>
          <p:cNvSpPr/>
          <p:nvPr/>
        </p:nvSpPr>
        <p:spPr>
          <a:xfrm>
            <a:off x="1060200" y="5967000"/>
            <a:ext cx="6067440" cy="578880"/>
          </a:xfrm>
          <a:prstGeom prst="roundRect">
            <a:avLst>
              <a:gd name="adj" fmla="val 48410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95;p3"/>
          <p:cNvSpPr/>
          <p:nvPr/>
        </p:nvSpPr>
        <p:spPr>
          <a:xfrm>
            <a:off x="1050840" y="5967000"/>
            <a:ext cx="6085800" cy="578880"/>
          </a:xfrm>
          <a:prstGeom prst="roundRect">
            <a:avLst>
              <a:gd name="adj" fmla="val 4841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96;p3"/>
          <p:cNvSpPr/>
          <p:nvPr/>
        </p:nvSpPr>
        <p:spPr>
          <a:xfrm>
            <a:off x="1238040" y="6107400"/>
            <a:ext cx="571176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k_sleep()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97;p3"/>
          <p:cNvSpPr/>
          <p:nvPr/>
        </p:nvSpPr>
        <p:spPr>
          <a:xfrm>
            <a:off x="1060200" y="6757200"/>
            <a:ext cx="60674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0e4e6"/>
                </a:solidFill>
                <a:latin typeface="Barlow"/>
                <a:ea typeface="Barlow"/>
              </a:rPr>
              <a:t>Pause thread execution for a specified duration. The scheduler will run other threads during this time.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Google Shape;98;p3" descr="preencoded.png"/>
          <p:cNvPicPr/>
          <p:nvPr/>
        </p:nvPicPr>
        <p:blipFill>
          <a:blip r:embed="rId4"/>
          <a:stretch/>
        </p:blipFill>
        <p:spPr>
          <a:xfrm>
            <a:off x="7315200" y="4561560"/>
            <a:ext cx="6441480" cy="747720"/>
          </a:xfrm>
          <a:prstGeom prst="rect">
            <a:avLst/>
          </a:prstGeom>
          <a:ln w="0">
            <a:noFill/>
          </a:ln>
        </p:spPr>
      </p:pic>
      <p:sp>
        <p:nvSpPr>
          <p:cNvPr id="94" name="Google Shape;99;p3"/>
          <p:cNvSpPr/>
          <p:nvPr/>
        </p:nvSpPr>
        <p:spPr>
          <a:xfrm>
            <a:off x="7502400" y="5496840"/>
            <a:ext cx="2077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e4e6"/>
                </a:solidFill>
                <a:latin typeface="Spline Sans"/>
                <a:ea typeface="Spline Sans"/>
              </a:rPr>
              <a:t>Scheduling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00;p3"/>
          <p:cNvSpPr/>
          <p:nvPr/>
        </p:nvSpPr>
        <p:spPr>
          <a:xfrm>
            <a:off x="7502400" y="5869080"/>
            <a:ext cx="60674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0e4e6"/>
                </a:solidFill>
                <a:latin typeface="Barlow"/>
                <a:ea typeface="Barlow"/>
              </a:rPr>
              <a:t>Thread priority determines execution order. Higher priority threads preempt lower priority ones unless cooperative scheduling is used.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06;p4"/>
          <p:cNvSpPr/>
          <p:nvPr/>
        </p:nvSpPr>
        <p:spPr>
          <a:xfrm>
            <a:off x="878760" y="690480"/>
            <a:ext cx="73504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3500" spc="-1" strike="noStrike">
                <a:solidFill>
                  <a:srgbClr val="f0fcff"/>
                </a:solidFill>
                <a:latin typeface="Spline Sans"/>
                <a:ea typeface="Spline Sans"/>
              </a:rPr>
              <a:t>Thread States and Transitions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07;p4"/>
          <p:cNvSpPr/>
          <p:nvPr/>
        </p:nvSpPr>
        <p:spPr>
          <a:xfrm>
            <a:off x="878760" y="1750320"/>
            <a:ext cx="27784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f0fcff"/>
                </a:solidFill>
                <a:latin typeface="Spline Sans"/>
                <a:ea typeface="Spline Sans"/>
              </a:rPr>
              <a:t>Thread State Diagram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" name="Google Shape;108;p4" descr="preencoded.png"/>
          <p:cNvPicPr/>
          <p:nvPr/>
        </p:nvPicPr>
        <p:blipFill>
          <a:blip r:embed="rId1"/>
          <a:stretch/>
        </p:blipFill>
        <p:spPr>
          <a:xfrm>
            <a:off x="878760" y="2255040"/>
            <a:ext cx="6190920" cy="3924360"/>
          </a:xfrm>
          <a:prstGeom prst="rect">
            <a:avLst/>
          </a:prstGeom>
          <a:ln w="0">
            <a:noFill/>
          </a:ln>
        </p:spPr>
      </p:pic>
      <p:sp>
        <p:nvSpPr>
          <p:cNvPr id="99" name="Google Shape;109;p4"/>
          <p:cNvSpPr/>
          <p:nvPr/>
        </p:nvSpPr>
        <p:spPr>
          <a:xfrm>
            <a:off x="878760" y="6405840"/>
            <a:ext cx="6190920" cy="96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0e4e6"/>
                </a:solidFill>
                <a:latin typeface="Barlow"/>
                <a:ea typeface="Barlow"/>
              </a:rPr>
              <a:t>Thread states include: Ready, Running, Pending, and Suspended. Transitions between states are managed by the scheduler based on priority and system events.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10;p4"/>
          <p:cNvSpPr/>
          <p:nvPr/>
        </p:nvSpPr>
        <p:spPr>
          <a:xfrm>
            <a:off x="7567920" y="1750320"/>
            <a:ext cx="363312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f0fcff"/>
                </a:solidFill>
                <a:latin typeface="Spline Sans"/>
                <a:ea typeface="Spline Sans"/>
              </a:rPr>
              <a:t>Thread Execution Timeline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1" name="Google Shape;111;p4" descr="preencoded.png"/>
          <p:cNvPicPr/>
          <p:nvPr/>
        </p:nvPicPr>
        <p:blipFill>
          <a:blip r:embed="rId2"/>
          <a:stretch/>
        </p:blipFill>
        <p:spPr>
          <a:xfrm>
            <a:off x="7567920" y="2255040"/>
            <a:ext cx="6190920" cy="2132640"/>
          </a:xfrm>
          <a:prstGeom prst="rect">
            <a:avLst/>
          </a:prstGeom>
          <a:ln w="0">
            <a:noFill/>
          </a:ln>
        </p:spPr>
      </p:pic>
      <p:sp>
        <p:nvSpPr>
          <p:cNvPr id="102" name="Google Shape;112;p4"/>
          <p:cNvSpPr/>
          <p:nvPr/>
        </p:nvSpPr>
        <p:spPr>
          <a:xfrm>
            <a:off x="7567920" y="4614120"/>
            <a:ext cx="6190920" cy="96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0e4e6"/>
                </a:solidFill>
                <a:latin typeface="Barlow"/>
                <a:ea typeface="Barlow"/>
              </a:rPr>
              <a:t>Zephyr's preemptive scheduler ensures high-priority threads receive immediate processor time, while cooperative threads voluntarily yield execution.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18;p5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04" name="Google Shape;119;p5"/>
          <p:cNvSpPr/>
          <p:nvPr/>
        </p:nvSpPr>
        <p:spPr>
          <a:xfrm>
            <a:off x="880920" y="1870920"/>
            <a:ext cx="8034120" cy="13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Basic Synchronization Demo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120;p5"/>
          <p:cNvSpPr/>
          <p:nvPr/>
        </p:nvSpPr>
        <p:spPr>
          <a:xfrm>
            <a:off x="880920" y="3503160"/>
            <a:ext cx="2796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0fcff"/>
                </a:solidFill>
                <a:latin typeface="Spline Sans"/>
                <a:ea typeface="Spline Sans"/>
              </a:rPr>
              <a:t>Running the Demo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21;p5"/>
          <p:cNvSpPr/>
          <p:nvPr/>
        </p:nvSpPr>
        <p:spPr>
          <a:xfrm>
            <a:off x="880920" y="4230360"/>
            <a:ext cx="7381080" cy="1182600"/>
          </a:xfrm>
          <a:prstGeom prst="roundRect">
            <a:avLst>
              <a:gd name="adj" fmla="val 31916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22;p5"/>
          <p:cNvSpPr/>
          <p:nvPr/>
        </p:nvSpPr>
        <p:spPr>
          <a:xfrm>
            <a:off x="868680" y="4230360"/>
            <a:ext cx="8046720" cy="1182600"/>
          </a:xfrm>
          <a:prstGeom prst="roundRect">
            <a:avLst>
              <a:gd name="adj" fmla="val 3192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123;p5"/>
          <p:cNvSpPr/>
          <p:nvPr/>
        </p:nvSpPr>
        <p:spPr>
          <a:xfrm>
            <a:off x="976320" y="4275000"/>
            <a:ext cx="8023680" cy="8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west build -b qemu_cortex_m0 samples/synchronization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west build -t run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Google Shape;124;p5"/>
          <p:cNvSpPr/>
          <p:nvPr/>
        </p:nvSpPr>
        <p:spPr>
          <a:xfrm>
            <a:off x="880920" y="5696640"/>
            <a:ext cx="7381080" cy="8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This demo runs on QEMU directly on your development machine, eliminating the need for physical hardware during initial learning.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30;p6"/>
          <p:cNvSpPr/>
          <p:nvPr/>
        </p:nvSpPr>
        <p:spPr>
          <a:xfrm>
            <a:off x="876240" y="688320"/>
            <a:ext cx="80388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350" spc="-1" strike="noStrike">
                <a:solidFill>
                  <a:srgbClr val="f0fcff"/>
                </a:solidFill>
                <a:latin typeface="Spline Sans"/>
                <a:ea typeface="Spline Sans"/>
              </a:rPr>
              <a:t>What is a Workqueue?</a:t>
            </a:r>
            <a:endParaRPr b="0" lang="en-US" sz="4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131;p6"/>
          <p:cNvSpPr/>
          <p:nvPr/>
        </p:nvSpPr>
        <p:spPr>
          <a:xfrm>
            <a:off x="428040" y="1884600"/>
            <a:ext cx="3582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5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0e4e6"/>
                </a:solidFill>
                <a:latin typeface="Spline Sans"/>
                <a:ea typeface="Spline Sans"/>
              </a:rPr>
              <a:t>Kernel Object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132;p6"/>
          <p:cNvSpPr/>
          <p:nvPr/>
        </p:nvSpPr>
        <p:spPr>
          <a:xfrm>
            <a:off x="876240" y="2382480"/>
            <a:ext cx="3809160" cy="16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A workqueue is a kernel object that uses a dedicated thread to process work items in a FIFO (First In, First Out) manner.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" name="Google Shape;133;p6" descr="preencoded.png"/>
          <p:cNvPicPr/>
          <p:nvPr/>
        </p:nvPicPr>
        <p:blipFill>
          <a:blip r:embed="rId1"/>
          <a:stretch/>
        </p:blipFill>
        <p:spPr>
          <a:xfrm>
            <a:off x="5061600" y="1918800"/>
            <a:ext cx="4506480" cy="4506480"/>
          </a:xfrm>
          <a:prstGeom prst="rect">
            <a:avLst/>
          </a:prstGeom>
          <a:ln w="0">
            <a:noFill/>
          </a:ln>
        </p:spPr>
      </p:pic>
      <p:pic>
        <p:nvPicPr>
          <p:cNvPr id="114" name="Google Shape;134;p6" descr="preencoded.png"/>
          <p:cNvPicPr/>
          <p:nvPr/>
        </p:nvPicPr>
        <p:blipFill>
          <a:blip r:embed="rId2"/>
          <a:stretch/>
        </p:blipFill>
        <p:spPr>
          <a:xfrm>
            <a:off x="6012360" y="2822760"/>
            <a:ext cx="373680" cy="467640"/>
          </a:xfrm>
          <a:prstGeom prst="rect">
            <a:avLst/>
          </a:prstGeom>
          <a:ln w="0">
            <a:noFill/>
          </a:ln>
        </p:spPr>
      </p:pic>
      <p:sp>
        <p:nvSpPr>
          <p:cNvPr id="115" name="Google Shape;135;p6"/>
          <p:cNvSpPr/>
          <p:nvPr/>
        </p:nvSpPr>
        <p:spPr>
          <a:xfrm>
            <a:off x="9944280" y="2084760"/>
            <a:ext cx="27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0e4e6"/>
                </a:solidFill>
                <a:latin typeface="Spline Sans"/>
                <a:ea typeface="Spline Sans"/>
              </a:rPr>
              <a:t>Deferred Execution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136;p6"/>
          <p:cNvSpPr/>
          <p:nvPr/>
        </p:nvSpPr>
        <p:spPr>
          <a:xfrm>
            <a:off x="9944280" y="2582640"/>
            <a:ext cx="3809160" cy="12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Provides a mechanism for scheduling small tasks to run later, often from interrupt context.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7" name="Google Shape;137;p6" descr="preencoded.png"/>
          <p:cNvPicPr/>
          <p:nvPr/>
        </p:nvPicPr>
        <p:blipFill>
          <a:blip r:embed="rId3"/>
          <a:stretch/>
        </p:blipFill>
        <p:spPr>
          <a:xfrm>
            <a:off x="5061600" y="1918800"/>
            <a:ext cx="4506480" cy="4506480"/>
          </a:xfrm>
          <a:prstGeom prst="rect">
            <a:avLst/>
          </a:prstGeom>
          <a:ln w="0">
            <a:noFill/>
          </a:ln>
        </p:spPr>
      </p:pic>
      <p:pic>
        <p:nvPicPr>
          <p:cNvPr id="118" name="Google Shape;138;p6" descr="preencoded.png"/>
          <p:cNvPicPr/>
          <p:nvPr/>
        </p:nvPicPr>
        <p:blipFill>
          <a:blip r:embed="rId4"/>
          <a:stretch/>
        </p:blipFill>
        <p:spPr>
          <a:xfrm>
            <a:off x="8243280" y="2822760"/>
            <a:ext cx="373680" cy="467640"/>
          </a:xfrm>
          <a:prstGeom prst="rect">
            <a:avLst/>
          </a:prstGeom>
          <a:ln w="0">
            <a:noFill/>
          </a:ln>
        </p:spPr>
      </p:pic>
      <p:sp>
        <p:nvSpPr>
          <p:cNvPr id="119" name="Google Shape;139;p6"/>
          <p:cNvSpPr/>
          <p:nvPr/>
        </p:nvSpPr>
        <p:spPr>
          <a:xfrm>
            <a:off x="10592280" y="4560480"/>
            <a:ext cx="27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0e4e6"/>
                </a:solidFill>
                <a:latin typeface="Spline Sans"/>
                <a:ea typeface="Spline Sans"/>
              </a:rPr>
              <a:t>Lightweight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140;p6"/>
          <p:cNvSpPr/>
          <p:nvPr/>
        </p:nvSpPr>
        <p:spPr>
          <a:xfrm>
            <a:off x="9944280" y="5058360"/>
            <a:ext cx="3809160" cy="12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Uses significantly less resources than creating separate threads for small, periodic tasks.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1" name="Google Shape;141;p6" descr="preencoded.png"/>
          <p:cNvPicPr/>
          <p:nvPr/>
        </p:nvPicPr>
        <p:blipFill>
          <a:blip r:embed="rId5"/>
          <a:stretch/>
        </p:blipFill>
        <p:spPr>
          <a:xfrm>
            <a:off x="5061600" y="1918800"/>
            <a:ext cx="4506480" cy="4506480"/>
          </a:xfrm>
          <a:prstGeom prst="rect">
            <a:avLst/>
          </a:prstGeom>
          <a:ln w="0">
            <a:noFill/>
          </a:ln>
        </p:spPr>
      </p:pic>
      <p:pic>
        <p:nvPicPr>
          <p:cNvPr id="122" name="Google Shape;142;p6" descr="preencoded.png"/>
          <p:cNvPicPr/>
          <p:nvPr/>
        </p:nvPicPr>
        <p:blipFill>
          <a:blip r:embed="rId6"/>
          <a:stretch/>
        </p:blipFill>
        <p:spPr>
          <a:xfrm>
            <a:off x="8243280" y="5053680"/>
            <a:ext cx="373680" cy="467640"/>
          </a:xfrm>
          <a:prstGeom prst="rect">
            <a:avLst/>
          </a:prstGeom>
          <a:ln w="0">
            <a:noFill/>
          </a:ln>
        </p:spPr>
      </p:pic>
      <p:sp>
        <p:nvSpPr>
          <p:cNvPr id="123" name="Google Shape;143;p6"/>
          <p:cNvSpPr/>
          <p:nvPr/>
        </p:nvSpPr>
        <p:spPr>
          <a:xfrm>
            <a:off x="824040" y="4359960"/>
            <a:ext cx="2781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5000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0e4e6"/>
                </a:solidFill>
                <a:latin typeface="Spline Sans"/>
                <a:ea typeface="Spline Sans"/>
              </a:rPr>
              <a:t>Efficient</a:t>
            </a:r>
            <a:endParaRPr b="0" lang="en-U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144;p6"/>
          <p:cNvSpPr/>
          <p:nvPr/>
        </p:nvSpPr>
        <p:spPr>
          <a:xfrm>
            <a:off x="876240" y="4857840"/>
            <a:ext cx="3809160" cy="16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Avoids context switching overhead by batching multiple small tasks into a single thread execution context.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Google Shape;145;p6" descr="preencoded.png"/>
          <p:cNvPicPr/>
          <p:nvPr/>
        </p:nvPicPr>
        <p:blipFill>
          <a:blip r:embed="rId7"/>
          <a:stretch/>
        </p:blipFill>
        <p:spPr>
          <a:xfrm>
            <a:off x="5061600" y="1918800"/>
            <a:ext cx="4506480" cy="4506480"/>
          </a:xfrm>
          <a:prstGeom prst="rect">
            <a:avLst/>
          </a:prstGeom>
          <a:ln w="0">
            <a:noFill/>
          </a:ln>
        </p:spPr>
      </p:pic>
      <p:pic>
        <p:nvPicPr>
          <p:cNvPr id="126" name="Google Shape;146;p6" descr="preencoded.png"/>
          <p:cNvPicPr/>
          <p:nvPr/>
        </p:nvPicPr>
        <p:blipFill>
          <a:blip r:embed="rId8"/>
          <a:stretch/>
        </p:blipFill>
        <p:spPr>
          <a:xfrm>
            <a:off x="6012360" y="5053680"/>
            <a:ext cx="373680" cy="467640"/>
          </a:xfrm>
          <a:prstGeom prst="rect">
            <a:avLst/>
          </a:prstGeom>
          <a:ln w="0">
            <a:noFill/>
          </a:ln>
        </p:spPr>
      </p:pic>
      <p:sp>
        <p:nvSpPr>
          <p:cNvPr id="127" name="Google Shape;147;p6"/>
          <p:cNvSpPr/>
          <p:nvPr/>
        </p:nvSpPr>
        <p:spPr>
          <a:xfrm>
            <a:off x="876240" y="7046640"/>
            <a:ext cx="12877200" cy="80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Zephyr provides a system workqueue by default, but custom workqueues can be created with different priorities and stack sizes for specialized needs.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53;p7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29" name="Google Shape;154;p7"/>
          <p:cNvSpPr/>
          <p:nvPr/>
        </p:nvSpPr>
        <p:spPr>
          <a:xfrm>
            <a:off x="880920" y="879120"/>
            <a:ext cx="8262720" cy="62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3950" spc="-1" strike="noStrike">
                <a:solidFill>
                  <a:srgbClr val="f0fcff"/>
                </a:solidFill>
                <a:latin typeface="Spline Sans"/>
                <a:ea typeface="Spline Sans"/>
              </a:rPr>
              <a:t>Workqueue API Concepts</a:t>
            </a:r>
            <a:endParaRPr b="0" lang="en-US" sz="3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155;p7"/>
          <p:cNvSpPr/>
          <p:nvPr/>
        </p:nvSpPr>
        <p:spPr>
          <a:xfrm>
            <a:off x="880920" y="2074680"/>
            <a:ext cx="251676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f0fcff"/>
                </a:solidFill>
                <a:latin typeface="Spline Sans"/>
                <a:ea typeface="Spline Sans"/>
              </a:rPr>
              <a:t>Work Item Types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Google Shape;156;p7"/>
          <p:cNvSpPr/>
          <p:nvPr/>
        </p:nvSpPr>
        <p:spPr>
          <a:xfrm>
            <a:off x="880920" y="2616120"/>
            <a:ext cx="3413880" cy="10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struct k_work</a:t>
            </a:r>
            <a:r>
              <a:rPr b="0" lang="en-US" sz="1750" spc="-1" strike="noStrike">
                <a:solidFill>
                  <a:srgbClr val="e0e4e6"/>
                </a:solidFill>
                <a:latin typeface="Barlow"/>
                <a:ea typeface="Barlow"/>
              </a:rPr>
              <a:t>: Basic work item for immediate or one-time deferred execution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157;p7"/>
          <p:cNvSpPr/>
          <p:nvPr/>
        </p:nvSpPr>
        <p:spPr>
          <a:xfrm>
            <a:off x="880920" y="3782520"/>
            <a:ext cx="3413880" cy="14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struct k_work_delayable</a:t>
            </a:r>
            <a:r>
              <a:rPr b="0" lang="en-US" sz="1750" spc="-1" strike="noStrike">
                <a:solidFill>
                  <a:srgbClr val="e0e4e6"/>
                </a:solidFill>
                <a:latin typeface="Barlow"/>
                <a:ea typeface="Barlow"/>
              </a:rPr>
              <a:t>: Enhanced work item that can be scheduled to run after a specified time period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Google Shape;158;p7"/>
          <p:cNvSpPr/>
          <p:nvPr/>
        </p:nvSpPr>
        <p:spPr>
          <a:xfrm>
            <a:off x="880920" y="5436000"/>
            <a:ext cx="3413880" cy="10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e0e4e6"/>
                </a:solidFill>
                <a:latin typeface="Barlow"/>
                <a:ea typeface="Barlow"/>
              </a:rPr>
              <a:t>Both types execute their handler functions in the context of the workqueue thread.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Google Shape;159;p7"/>
          <p:cNvSpPr/>
          <p:nvPr/>
        </p:nvSpPr>
        <p:spPr>
          <a:xfrm>
            <a:off x="4856040" y="2074680"/>
            <a:ext cx="251676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f0fcff"/>
                </a:solidFill>
                <a:latin typeface="Spline Sans"/>
                <a:ea typeface="Spline Sans"/>
              </a:rPr>
              <a:t>Core Functions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Google Shape;161;p7"/>
          <p:cNvSpPr/>
          <p:nvPr/>
        </p:nvSpPr>
        <p:spPr>
          <a:xfrm rot="21561600">
            <a:off x="4855680" y="2614320"/>
            <a:ext cx="5213880" cy="2151360"/>
          </a:xfrm>
          <a:prstGeom prst="roundRect">
            <a:avLst>
              <a:gd name="adj" fmla="val 1579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162;p7"/>
          <p:cNvSpPr/>
          <p:nvPr/>
        </p:nvSpPr>
        <p:spPr>
          <a:xfrm>
            <a:off x="5071320" y="2814120"/>
            <a:ext cx="7044120" cy="18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k_work_init(&amp;work,handler_function);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k_work_submit(&amp;work);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k_work_schedule(&amp;dwork, K_MSEC(100));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Google Shape;163;p7"/>
          <p:cNvSpPr/>
          <p:nvPr/>
        </p:nvSpPr>
        <p:spPr>
          <a:xfrm>
            <a:off x="4856040" y="5051160"/>
            <a:ext cx="3413880" cy="7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e0e4e6"/>
                </a:solidFill>
                <a:latin typeface="Barlow"/>
                <a:ea typeface="Barlow"/>
              </a:rPr>
              <a:t>The handler function signature must be: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164;p7"/>
          <p:cNvSpPr/>
          <p:nvPr/>
        </p:nvSpPr>
        <p:spPr>
          <a:xfrm>
            <a:off x="4856040" y="6031080"/>
            <a:ext cx="3413880" cy="1063800"/>
          </a:xfrm>
          <a:prstGeom prst="roundRect">
            <a:avLst>
              <a:gd name="adj" fmla="val 31924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Google Shape;165;p7"/>
          <p:cNvSpPr/>
          <p:nvPr/>
        </p:nvSpPr>
        <p:spPr>
          <a:xfrm>
            <a:off x="4844520" y="6031080"/>
            <a:ext cx="3436560" cy="1063800"/>
          </a:xfrm>
          <a:prstGeom prst="roundRect">
            <a:avLst>
              <a:gd name="adj" fmla="val 3192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Google Shape;166;p7"/>
          <p:cNvSpPr/>
          <p:nvPr/>
        </p:nvSpPr>
        <p:spPr>
          <a:xfrm>
            <a:off x="5071320" y="6057000"/>
            <a:ext cx="2983320" cy="7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void handler(struct k_work *work);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72;p8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42" name="Google Shape;173;p8"/>
          <p:cNvSpPr/>
          <p:nvPr/>
        </p:nvSpPr>
        <p:spPr>
          <a:xfrm>
            <a:off x="6367320" y="1823040"/>
            <a:ext cx="84913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Workqueue Implementation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Google Shape;174;p8"/>
          <p:cNvSpPr/>
          <p:nvPr/>
        </p:nvSpPr>
        <p:spPr>
          <a:xfrm>
            <a:off x="6367320" y="2900160"/>
            <a:ext cx="7381080" cy="20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The diagram illustrates how work items flow through the system. When submitted, they enter a FIFO queue and are processed sequentially by the workqueue thread. Delayable work items are managed by a timing wheel that efficiently tracks when each item should be executed.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Google Shape;175;p8"/>
          <p:cNvSpPr/>
          <p:nvPr/>
        </p:nvSpPr>
        <p:spPr>
          <a:xfrm>
            <a:off x="6367320" y="5197680"/>
            <a:ext cx="7381080" cy="12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The system workqueue runs at priority 0 (highest) by default, making it suitable for time-sensitive operations that must execute promptly but are too short to justify a dedicated thread.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81;p9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46" name="Google Shape;182;p9"/>
          <p:cNvSpPr/>
          <p:nvPr/>
        </p:nvSpPr>
        <p:spPr>
          <a:xfrm>
            <a:off x="880920" y="2883960"/>
            <a:ext cx="71197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When to Use Threads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183;p9"/>
          <p:cNvSpPr/>
          <p:nvPr/>
        </p:nvSpPr>
        <p:spPr>
          <a:xfrm>
            <a:off x="880920" y="3960720"/>
            <a:ext cx="73810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Long-running background operations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184;p9"/>
          <p:cNvSpPr/>
          <p:nvPr/>
        </p:nvSpPr>
        <p:spPr>
          <a:xfrm>
            <a:off x="880920" y="4451760"/>
            <a:ext cx="73810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Independent state machines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Google Shape;185;p9"/>
          <p:cNvSpPr/>
          <p:nvPr/>
        </p:nvSpPr>
        <p:spPr>
          <a:xfrm>
            <a:off x="880920" y="4942800"/>
            <a:ext cx="73810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Polling or waiting logic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91;p10"/>
          <p:cNvSpPr/>
          <p:nvPr/>
        </p:nvSpPr>
        <p:spPr>
          <a:xfrm>
            <a:off x="873720" y="688680"/>
            <a:ext cx="849852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-US" sz="3050" spc="-1" strike="noStrike">
                <a:solidFill>
                  <a:srgbClr val="f0fcff"/>
                </a:solidFill>
                <a:latin typeface="Spline Sans"/>
                <a:ea typeface="Spline Sans"/>
              </a:rPr>
              <a:t>When to Use Workqueues</a:t>
            </a:r>
            <a:endParaRPr b="0" lang="en-US" sz="3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192;p10"/>
          <p:cNvSpPr/>
          <p:nvPr/>
        </p:nvSpPr>
        <p:spPr>
          <a:xfrm>
            <a:off x="873720" y="1632960"/>
            <a:ext cx="392400" cy="392400"/>
          </a:xfrm>
          <a:prstGeom prst="roundRect">
            <a:avLst>
              <a:gd name="adj" fmla="val 66685"/>
            </a:avLst>
          </a:prstGeom>
          <a:solidFill>
            <a:srgbClr val="0a081b"/>
          </a:solidFill>
          <a:ln w="15225">
            <a:solidFill>
              <a:srgbClr val="16f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193;p10"/>
          <p:cNvSpPr/>
          <p:nvPr/>
        </p:nvSpPr>
        <p:spPr>
          <a:xfrm>
            <a:off x="1441440" y="1692720"/>
            <a:ext cx="3292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6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e4e6"/>
                </a:solidFill>
                <a:latin typeface="Spline Sans"/>
                <a:ea typeface="Spline Sans"/>
              </a:rPr>
              <a:t>Short, Non-blocking Tasks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Google Shape;194;p10"/>
          <p:cNvSpPr/>
          <p:nvPr/>
        </p:nvSpPr>
        <p:spPr>
          <a:xfrm>
            <a:off x="1441440" y="2110320"/>
            <a:ext cx="565992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Brief operations that complete quickly and don't block. Examples include updating status indicators or triggering state changes.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Google Shape;195;p10"/>
          <p:cNvSpPr/>
          <p:nvPr/>
        </p:nvSpPr>
        <p:spPr>
          <a:xfrm>
            <a:off x="873720" y="3399840"/>
            <a:ext cx="392400" cy="392400"/>
          </a:xfrm>
          <a:prstGeom prst="roundRect">
            <a:avLst>
              <a:gd name="adj" fmla="val 66685"/>
            </a:avLst>
          </a:prstGeom>
          <a:solidFill>
            <a:srgbClr val="0a081b"/>
          </a:solidFill>
          <a:ln w="15225">
            <a:solidFill>
              <a:srgbClr val="29dd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Google Shape;196;p10"/>
          <p:cNvSpPr/>
          <p:nvPr/>
        </p:nvSpPr>
        <p:spPr>
          <a:xfrm>
            <a:off x="1441440" y="3459600"/>
            <a:ext cx="2444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6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e4e6"/>
                </a:solidFill>
                <a:latin typeface="Spline Sans"/>
                <a:ea typeface="Spline Sans"/>
              </a:rPr>
              <a:t>Interrupt Deferral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197;p10"/>
          <p:cNvSpPr/>
          <p:nvPr/>
        </p:nvSpPr>
        <p:spPr>
          <a:xfrm>
            <a:off x="1441440" y="3877200"/>
            <a:ext cx="5659560" cy="83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Moving processing out of interrupt context to prevent extended ISR execution. Perfect for sensor data processing, message handling, or flash operations.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Google Shape;198;p10"/>
          <p:cNvSpPr/>
          <p:nvPr/>
        </p:nvSpPr>
        <p:spPr>
          <a:xfrm>
            <a:off x="873720" y="5598720"/>
            <a:ext cx="392400" cy="392400"/>
          </a:xfrm>
          <a:prstGeom prst="roundRect">
            <a:avLst>
              <a:gd name="adj" fmla="val 66685"/>
            </a:avLst>
          </a:prstGeom>
          <a:solidFill>
            <a:srgbClr val="0a081b"/>
          </a:solidFill>
          <a:ln w="15225">
            <a:solidFill>
              <a:srgbClr val="37a7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Google Shape;199;p10"/>
          <p:cNvSpPr/>
          <p:nvPr/>
        </p:nvSpPr>
        <p:spPr>
          <a:xfrm>
            <a:off x="1441440" y="5658480"/>
            <a:ext cx="2742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6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e4e6"/>
                </a:solidFill>
                <a:latin typeface="Spline Sans"/>
                <a:ea typeface="Spline Sans"/>
              </a:rPr>
              <a:t>Periodic Maintenance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Google Shape;200;p10"/>
          <p:cNvSpPr/>
          <p:nvPr/>
        </p:nvSpPr>
        <p:spPr>
          <a:xfrm>
            <a:off x="1441440" y="6075720"/>
            <a:ext cx="565956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0e4e6"/>
                </a:solidFill>
                <a:latin typeface="Barlow"/>
                <a:ea typeface="Barlow"/>
              </a:rPr>
              <a:t>Regularly scheduled lightweight tasks like watchdog refreshing, connection keepalives, or system health checks.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Google Shape;201;p10"/>
          <p:cNvSpPr/>
          <p:nvPr/>
        </p:nvSpPr>
        <p:spPr>
          <a:xfrm>
            <a:off x="7535880" y="1611000"/>
            <a:ext cx="29793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6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0fcff"/>
                </a:solidFill>
                <a:latin typeface="Spline Sans"/>
                <a:ea typeface="Spline Sans"/>
              </a:rPr>
              <a:t>Example Implementation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202;p10"/>
          <p:cNvSpPr/>
          <p:nvPr/>
        </p:nvSpPr>
        <p:spPr>
          <a:xfrm>
            <a:off x="7535880" y="2050200"/>
            <a:ext cx="6227640" cy="5293440"/>
          </a:xfrm>
          <a:prstGeom prst="roundRect">
            <a:avLst>
              <a:gd name="adj" fmla="val 4952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Google Shape;203;p10"/>
          <p:cNvSpPr/>
          <p:nvPr/>
        </p:nvSpPr>
        <p:spPr>
          <a:xfrm>
            <a:off x="7527240" y="2050200"/>
            <a:ext cx="6920640" cy="5293440"/>
          </a:xfrm>
          <a:prstGeom prst="roundRect">
            <a:avLst>
              <a:gd name="adj" fmla="val 495"/>
            </a:avLst>
          </a:prstGeom>
          <a:solidFill>
            <a:srgbClr val="004d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204;p10"/>
          <p:cNvSpPr/>
          <p:nvPr/>
        </p:nvSpPr>
        <p:spPr>
          <a:xfrm>
            <a:off x="7701840" y="2181240"/>
            <a:ext cx="6605640" cy="50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/* Define work item */K_WORK_DEFINE(process_work, process_handler);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/* In ISR */void sensor_isr(void) {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/* Read sensor data */ read_sensor_data();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/* Defer processing to workqueue */k_work_submit(&amp;process_work);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}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/* Work handler */void process_handler(struct k_work *work) {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/* Process data outside ISR context */ analyze_sensor_data(); update_display();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0e4e6"/>
                </a:solidFill>
                <a:highlight>
                  <a:srgbClr val="004d36"/>
                </a:highlight>
                <a:latin typeface="Consolas"/>
                <a:ea typeface="Consolas"/>
              </a:rPr>
              <a:t>}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81;p 1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65" name="Google Shape;182;p 2"/>
          <p:cNvSpPr/>
          <p:nvPr/>
        </p:nvSpPr>
        <p:spPr>
          <a:xfrm>
            <a:off x="880920" y="2883960"/>
            <a:ext cx="711972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0fcff"/>
                </a:solidFill>
                <a:latin typeface="Spline Sans"/>
                <a:ea typeface="Spline Sans"/>
              </a:rPr>
              <a:t>Exercise WorkQueue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Google Shape;183;p 2"/>
          <p:cNvSpPr/>
          <p:nvPr/>
        </p:nvSpPr>
        <p:spPr>
          <a:xfrm>
            <a:off x="880920" y="3960720"/>
            <a:ext cx="73810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Use Workqueue to blink the led every 2 seconds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184;p 2"/>
          <p:cNvSpPr/>
          <p:nvPr/>
        </p:nvSpPr>
        <p:spPr>
          <a:xfrm>
            <a:off x="880920" y="4451760"/>
            <a:ext cx="73810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1000"/>
              </a:lnSpc>
              <a:buClr>
                <a:srgbClr val="e0e4e6"/>
              </a:buClr>
              <a:buFont typeface="Barlow"/>
              <a:buChar char="•"/>
            </a:pPr>
            <a:r>
              <a:rPr b="0" lang="en-US" sz="1950" spc="-1" strike="noStrike">
                <a:solidFill>
                  <a:srgbClr val="e0e4e6"/>
                </a:solidFill>
                <a:latin typeface="Barlow"/>
                <a:ea typeface="Barlow"/>
              </a:rPr>
              <a:t>Extra: stop the led blinking if button was pressed, resume the blinking on another press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2025-07-03T14:21:26Z</dcterms:created>
  <dc:creator/>
  <dc:description/>
  <dc:language>en-US</dc:language>
  <cp:lastModifiedBy/>
  <dcterms:modified xsi:type="dcterms:W3CDTF">2025-07-09T12:59:38Z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