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_rels/slideMaster12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11.xml" ContentType="application/vnd.openxmlformats-officedocument.theme+xml"/>
  <Override PartName="/ppt/theme/theme2.xml" ContentType="application/vnd.openxmlformats-officedocument.theme+xml"/>
  <Override PartName="/ppt/theme/theme12.xml" ContentType="application/vnd.openxmlformats-officedocument.theme+xml"/>
  <Override PartName="/ppt/theme/theme3.xml" ContentType="application/vnd.openxmlformats-officedocument.theme+xml"/>
  <Override PartName="/ppt/theme/theme1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_rels/presentation.xml.rels" ContentType="application/vnd.openxmlformats-package.relationships+xml"/>
  <Override PartName="/ppt/media/image13.png" ContentType="image/png"/>
  <Override PartName="/ppt/media/image4.png" ContentType="image/png"/>
  <Override PartName="/ppt/media/image9.png" ContentType="image/png"/>
  <Override PartName="/ppt/media/image18.png" ContentType="image/png"/>
  <Override PartName="/ppt/media/image20.png" ContentType="image/png"/>
  <Override PartName="/ppt/media/image12.png" ContentType="image/png"/>
  <Override PartName="/ppt/media/image3.png" ContentType="image/png"/>
  <Override PartName="/ppt/media/image8.png" ContentType="image/png"/>
  <Override PartName="/ppt/media/image17.png" ContentType="image/png"/>
  <Override PartName="/ppt/media/image22.png" ContentType="image/png"/>
  <Override PartName="/ppt/media/image21.png" ContentType="image/png"/>
  <Override PartName="/ppt/media/image19.png" ContentType="image/png"/>
  <Override PartName="/ppt/media/image5.png" ContentType="image/png"/>
  <Override PartName="/ppt/media/image14.png" ContentType="image/png"/>
  <Override PartName="/ppt/media/image6.png" ContentType="image/png"/>
  <Override PartName="/ppt/media/image15.png" ContentType="image/png"/>
  <Override PartName="/ppt/media/image10.png" ContentType="image/png"/>
  <Override PartName="/ppt/media/image1.png" ContentType="image/png"/>
  <Override PartName="/ppt/media/image16.png" ContentType="image/png"/>
  <Override PartName="/ppt/media/image7.png" ContentType="image/png"/>
  <Override PartName="/ppt/media/image2.png" ContentType="image/png"/>
  <Override PartName="/ppt/media/image11.png" ContentType="image/png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_rels/notesSlide11.xml.rels" ContentType="application/vnd.openxmlformats-package.relationships+xml"/>
  <Override PartName="/ppt/notesSlides/_rels/notesSlide4.xml.rels" ContentType="application/vnd.openxmlformats-package.relationships+xml"/>
  <Override PartName="/ppt/notesSlides/_rels/notesSlide9.xml.rels" ContentType="application/vnd.openxmlformats-package.relationships+xml"/>
  <Override PartName="/ppt/notesSlides/_rels/notesSlide10.xml.rels" ContentType="application/vnd.openxmlformats-package.relationships+xml"/>
  <Override PartName="/ppt/notesSlides/_rels/notesSlide3.xml.rels" ContentType="application/vnd.openxmlformats-package.relationships+xml"/>
  <Override PartName="/ppt/notesSlides/_rels/notesSlide8.xml.rels" ContentType="application/vnd.openxmlformats-package.relationships+xml"/>
  <Override PartName="/ppt/notesSlides/_rels/notesSlide7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2.xml.rels" ContentType="application/vnd.openxmlformats-package.relationships+xml"/>
  <Override PartName="/ppt/notesSlides/_rels/notesSlide1.xml.rels" ContentType="application/vnd.openxmlformats-package.relationships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2" r:id="rId9"/>
    <p:sldMasterId id="2147483664" r:id="rId10"/>
    <p:sldMasterId id="2147483666" r:id="rId11"/>
    <p:sldMasterId id="2147483668" r:id="rId12"/>
    <p:sldMasterId id="2147483670" r:id="rId13"/>
  </p:sldMasterIdLst>
  <p:notesMasterIdLst>
    <p:notesMasterId r:id="rId14"/>
  </p:notesMasterIdLst>
  <p:sldIdLst>
    <p:sldId id="256" r:id="rId15"/>
    <p:sldId id="257" r:id="rId16"/>
    <p:sldId id="258" r:id="rId17"/>
    <p:sldId id="259" r:id="rId18"/>
    <p:sldId id="260" r:id="rId19"/>
    <p:sldId id="261" r:id="rId20"/>
    <p:sldId id="262" r:id="rId21"/>
    <p:sldId id="263" r:id="rId22"/>
    <p:sldId id="264" r:id="rId23"/>
    <p:sldId id="265" r:id="rId24"/>
    <p:sldId id="266" r:id="rId25"/>
  </p:sldIdLst>
  <p:sldSz cx="14630400" cy="8229600"/>
  <p:notesSz cx="8229600" cy="14630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notesMaster" Target="notesMasters/notesMaster1.xml"/><Relationship Id="rId15" Type="http://schemas.openxmlformats.org/officeDocument/2006/relationships/slide" Target="slides/slide1.xml"/><Relationship Id="rId16" Type="http://schemas.openxmlformats.org/officeDocument/2006/relationships/slide" Target="slides/slide2.xml"/><Relationship Id="rId17" Type="http://schemas.openxmlformats.org/officeDocument/2006/relationships/slide" Target="slides/slide3.xml"/><Relationship Id="rId18" Type="http://schemas.openxmlformats.org/officeDocument/2006/relationships/slide" Target="slides/slide4.xml"/><Relationship Id="rId19" Type="http://schemas.openxmlformats.org/officeDocument/2006/relationships/slide" Target="slides/slide5.xml"/><Relationship Id="rId20" Type="http://schemas.openxmlformats.org/officeDocument/2006/relationships/slide" Target="slides/slide6.xml"/><Relationship Id="rId21" Type="http://schemas.openxmlformats.org/officeDocument/2006/relationships/slide" Target="slides/slide7.xml"/><Relationship Id="rId22" Type="http://schemas.openxmlformats.org/officeDocument/2006/relationships/slide" Target="slides/slide8.xml"/><Relationship Id="rId23" Type="http://schemas.openxmlformats.org/officeDocument/2006/relationships/slide" Target="slides/slide9.xml"/><Relationship Id="rId24" Type="http://schemas.openxmlformats.org/officeDocument/2006/relationships/slide" Target="slides/slide10.xml"/><Relationship Id="rId25" Type="http://schemas.openxmlformats.org/officeDocument/2006/relationships/slide" Target="slides/slide11.xml"/><Relationship Id="rId26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13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move the slide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Click to edit the notes format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&lt;header&gt;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&lt;footer&gt;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buNone/>
            </a:pPr>
            <a:fld id="{1E04D94C-018D-412B-B6FB-A8DB128DCA5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6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7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6ECA8FA-D772-4698-8BAF-8667CBB1B149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7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C5EC147-A07A-4E60-9B14-8593057DC103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7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F7293CD-9713-4702-8C57-05138BFF7A6D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7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655B136-B318-4B1F-87DF-A644FAEA434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8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2C7ED722-EC81-4651-8177-301658626E95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8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53A3E92C-A9DE-4403-8B41-117F13E0AF5E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8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8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B398CE69-8AB7-4507-BFA3-E09E31861BF1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9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65875999-C826-4AD8-BFF2-A9FB0241C630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9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38077653-8F7E-4DED-A365-9AAEA8AC9C7B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F2AD14E5-FCB0-4E5A-BB85-6FC172A07049}" type="slidenum"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6040" cy="3085920"/>
          </a:xfrm>
          <a:prstGeom prst="rect">
            <a:avLst/>
          </a:prstGeom>
          <a:ln w="0">
            <a:noFill/>
          </a:ln>
        </p:spPr>
      </p:sp>
      <p:sp>
        <p:nvSpPr>
          <p:cNvPr id="19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16000" indent="-216000">
              <a:buNone/>
            </a:pPr>
            <a:endParaRPr b="0" lang="en-US" sz="1200" spc="-1" strike="noStrike">
              <a:solidFill>
                <a:schemeClr val="dk1"/>
              </a:solidFill>
              <a:latin typeface="Calibri"/>
              <a:ea typeface="Calibri"/>
            </a:endParaRPr>
          </a:p>
        </p:txBody>
      </p:sp>
      <p:sp>
        <p:nvSpPr>
          <p:cNvPr id="20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lstStyle>
            <a:lvl1pPr indent="0" algn="r">
              <a:lnSpc>
                <a:spcPct val="100000"/>
              </a:lnSpc>
              <a:buNone/>
              <a:tabLst>
                <a:tab algn="l" pos="0"/>
              </a:tabLst>
              <a:defRPr b="0" lang="en-US" sz="18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algn="l" pos="0"/>
              </a:tabLst>
            </a:pPr>
            <a:fld id="{08985F31-E799-471B-AC1F-266D48EE8EE9}" type="slidenum">
              <a:rPr b="0" lang="en-US" sz="1800" spc="-1" strike="noStrike">
                <a:solidFill>
                  <a:srgbClr val="000000"/>
                </a:solidFill>
                <a:latin typeface="Times New Roman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10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2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3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4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5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6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7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8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9 ma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lide 9 master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7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8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9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0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image" Target="../media/image1.png"/><Relationship Id="rId3" Type="http://schemas.openxmlformats.org/officeDocument/2006/relationships/hyperlink" Target="https://gamma.app/?utm_source=made-with-gamma" TargetMode="External"/><Relationship Id="rId4" Type="http://schemas.openxmlformats.org/officeDocument/2006/relationships/image" Target="../media/image2.png"/><Relationship Id="rId5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Google Shape;11;p12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4630040" cy="8229240"/>
          </a:xfrm>
          <a:prstGeom prst="rect">
            <a:avLst/>
          </a:prstGeom>
          <a:ln w="0">
            <a:noFill/>
          </a:ln>
        </p:spPr>
      </p:pic>
      <p:sp>
        <p:nvSpPr>
          <p:cNvPr id="1" name="Google Shape;12;p12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0a081b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" name="Google Shape;13;p12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2839040" y="7749720"/>
            <a:ext cx="1722240" cy="411120"/>
          </a:xfrm>
          <a:prstGeom prst="rect">
            <a:avLst/>
          </a:prstGeom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</a:t>
            </a: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5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Google Shape;47;p21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4630040" cy="8229240"/>
          </a:xfrm>
          <a:prstGeom prst="rect">
            <a:avLst/>
          </a:prstGeom>
          <a:ln w="0">
            <a:noFill/>
          </a:ln>
        </p:spPr>
      </p:pic>
      <p:sp>
        <p:nvSpPr>
          <p:cNvPr id="6" name="Google Shape;48;p21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0a081b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" name="Google Shape;49;p21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2839040" y="7749720"/>
            <a:ext cx="1722240" cy="411120"/>
          </a:xfrm>
          <a:prstGeom prst="rect">
            <a:avLst/>
          </a:prstGeom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5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bg2="lt2" tx1="dk1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Google Shape;15;p13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4630040" cy="8229240"/>
          </a:xfrm>
          <a:prstGeom prst="rect">
            <a:avLst/>
          </a:prstGeom>
          <a:ln w="0">
            <a:noFill/>
          </a:ln>
        </p:spPr>
      </p:pic>
      <p:sp>
        <p:nvSpPr>
          <p:cNvPr id="11" name="Google Shape;16;p13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0a081b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" name="Google Shape;17;p13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2839040" y="7749720"/>
            <a:ext cx="1722240" cy="411120"/>
          </a:xfrm>
          <a:prstGeom prst="rect">
            <a:avLst/>
          </a:prstGeom>
          <a:ln w="0">
            <a:noFill/>
          </a:ln>
        </p:spPr>
      </p:pic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5" r:id="rId5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9;p14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4630040" cy="8229240"/>
          </a:xfrm>
          <a:prstGeom prst="rect">
            <a:avLst/>
          </a:prstGeom>
          <a:ln w="0">
            <a:noFill/>
          </a:ln>
        </p:spPr>
      </p:pic>
      <p:sp>
        <p:nvSpPr>
          <p:cNvPr id="16" name="Google Shape;20;p14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0a081b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7" name="Google Shape;21;p14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2839040" y="7749720"/>
            <a:ext cx="1722240" cy="411120"/>
          </a:xfrm>
          <a:prstGeom prst="rect">
            <a:avLst/>
          </a:prstGeom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7" r:id="rId5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Google Shape;23;p15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4630040" cy="8229240"/>
          </a:xfrm>
          <a:prstGeom prst="rect">
            <a:avLst/>
          </a:prstGeom>
          <a:ln w="0">
            <a:noFill/>
          </a:ln>
        </p:spPr>
      </p:pic>
      <p:sp>
        <p:nvSpPr>
          <p:cNvPr id="21" name="Google Shape;24;p15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0a081b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2" name="Google Shape;25;p15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2839040" y="7749720"/>
            <a:ext cx="1722240" cy="411120"/>
          </a:xfrm>
          <a:prstGeom prst="rect">
            <a:avLst/>
          </a:prstGeom>
          <a:ln w="0">
            <a:noFill/>
          </a:ln>
        </p:spPr>
      </p:pic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9" r:id="rId5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27;p16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4630040" cy="8229240"/>
          </a:xfrm>
          <a:prstGeom prst="rect">
            <a:avLst/>
          </a:prstGeom>
          <a:ln w="0">
            <a:noFill/>
          </a:ln>
        </p:spPr>
      </p:pic>
      <p:sp>
        <p:nvSpPr>
          <p:cNvPr id="26" name="Google Shape;28;p16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0a081b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27" name="Google Shape;29;p16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2839040" y="7749720"/>
            <a:ext cx="1722240" cy="411120"/>
          </a:xfrm>
          <a:prstGeom prst="rect">
            <a:avLst/>
          </a:prstGeom>
          <a:ln w="0">
            <a:noFill/>
          </a:ln>
        </p:spPr>
      </p:pic>
      <p:sp>
        <p:nvSpPr>
          <p:cNvPr id="2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1" r:id="rId5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Google Shape;31;p17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4630040" cy="8229240"/>
          </a:xfrm>
          <a:prstGeom prst="rect">
            <a:avLst/>
          </a:prstGeom>
          <a:ln w="0">
            <a:noFill/>
          </a:ln>
        </p:spPr>
      </p:pic>
      <p:sp>
        <p:nvSpPr>
          <p:cNvPr id="31" name="Google Shape;32;p17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0a081b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2" name="Google Shape;33;p17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2839040" y="7749720"/>
            <a:ext cx="1722240" cy="411120"/>
          </a:xfrm>
          <a:prstGeom prst="rect">
            <a:avLst/>
          </a:prstGeom>
          <a:ln w="0">
            <a:noFill/>
          </a:ln>
        </p:spPr>
      </p:pic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3" r:id="rId5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18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4630040" cy="8229240"/>
          </a:xfrm>
          <a:prstGeom prst="rect">
            <a:avLst/>
          </a:prstGeom>
          <a:ln w="0">
            <a:noFill/>
          </a:ln>
        </p:spPr>
      </p:pic>
      <p:sp>
        <p:nvSpPr>
          <p:cNvPr id="36" name="Google Shape;36;p18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0a081b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7" name="Google Shape;37;p18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2839040" y="7749720"/>
            <a:ext cx="1722240" cy="411120"/>
          </a:xfrm>
          <a:prstGeom prst="rect">
            <a:avLst/>
          </a:prstGeom>
          <a:ln w="0">
            <a:noFill/>
          </a:ln>
        </p:spPr>
      </p:pic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5" r:id="rId5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" name="Google Shape;39;p19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4630040" cy="8229240"/>
          </a:xfrm>
          <a:prstGeom prst="rect">
            <a:avLst/>
          </a:prstGeom>
          <a:ln w="0">
            <a:noFill/>
          </a:ln>
        </p:spPr>
      </p:pic>
      <p:sp>
        <p:nvSpPr>
          <p:cNvPr id="41" name="Google Shape;40;p19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0a081b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2" name="Google Shape;41;p19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2839040" y="7749720"/>
            <a:ext cx="1722240" cy="411120"/>
          </a:xfrm>
          <a:prstGeom prst="rect">
            <a:avLst/>
          </a:prstGeom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7" r:id="rId5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Google Shape;43;p2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4630040" cy="8229240"/>
          </a:xfrm>
          <a:prstGeom prst="rect">
            <a:avLst/>
          </a:prstGeom>
          <a:ln w="0">
            <a:noFill/>
          </a:ln>
        </p:spPr>
      </p:pic>
      <p:sp>
        <p:nvSpPr>
          <p:cNvPr id="46" name="Google Shape;44;p2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0a081b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47" name="Google Shape;45;p20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2839040" y="7749720"/>
            <a:ext cx="1722240" cy="411120"/>
          </a:xfrm>
          <a:prstGeom prst="rect">
            <a:avLst/>
          </a:prstGeom>
          <a:ln w="0">
            <a:noFill/>
          </a:ln>
        </p:spPr>
      </p:pic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69" r:id="rId5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Google Shape;43;p20" descr="preencoded.png"/>
          <p:cNvPicPr/>
          <p:nvPr/>
        </p:nvPicPr>
        <p:blipFill>
          <a:blip r:embed="rId2"/>
          <a:stretch/>
        </p:blipFill>
        <p:spPr>
          <a:xfrm>
            <a:off x="0" y="0"/>
            <a:ext cx="14630040" cy="8229240"/>
          </a:xfrm>
          <a:prstGeom prst="rect">
            <a:avLst/>
          </a:prstGeom>
          <a:ln w="0">
            <a:noFill/>
          </a:ln>
        </p:spPr>
      </p:pic>
      <p:sp>
        <p:nvSpPr>
          <p:cNvPr id="51" name="Google Shape;44;p20"/>
          <p:cNvSpPr/>
          <p:nvPr/>
        </p:nvSpPr>
        <p:spPr>
          <a:xfrm>
            <a:off x="0" y="0"/>
            <a:ext cx="14630040" cy="8229240"/>
          </a:xfrm>
          <a:prstGeom prst="rect">
            <a:avLst/>
          </a:prstGeom>
          <a:solidFill>
            <a:srgbClr val="0a081b">
              <a:alpha val="75000"/>
            </a:srgbClr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52" name="Google Shape;45;p20" descr="preencoded.png">
            <a:hlinkClick r:id="rId3"/>
          </p:cNvPr>
          <p:cNvPicPr/>
          <p:nvPr/>
        </p:nvPicPr>
        <p:blipFill>
          <a:blip r:embed="rId4"/>
          <a:stretch/>
        </p:blipFill>
        <p:spPr>
          <a:xfrm>
            <a:off x="12839040" y="7749720"/>
            <a:ext cx="1722240" cy="411120"/>
          </a:xfrm>
          <a:prstGeom prst="rect">
            <a:avLst/>
          </a:prstGeom>
          <a:ln w="0">
            <a:noFill/>
          </a:ln>
        </p:spPr>
      </p:pic>
      <p:sp>
        <p:nvSpPr>
          <p:cNvPr id="53" name="PlaceHolder 1"/>
          <p:cNvSpPr>
            <a:spLocks noGrp="1"/>
          </p:cNvSpPr>
          <p:nvPr>
            <p:ph type="title"/>
          </p:nvPr>
        </p:nvSpPr>
        <p:spPr>
          <a:xfrm>
            <a:off x="731520" y="328320"/>
            <a:ext cx="13167000" cy="13737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4" name="PlaceHolder 2"/>
          <p:cNvSpPr>
            <a:spLocks noGrp="1"/>
          </p:cNvSpPr>
          <p:nvPr>
            <p:ph type="body"/>
          </p:nvPr>
        </p:nvSpPr>
        <p:spPr>
          <a:xfrm>
            <a:off x="731520" y="1925640"/>
            <a:ext cx="13167000" cy="477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b="0" lang="en-US" sz="14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4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71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slideLayout" Target="../slideLayouts/slideLayout5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6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7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png"/><Relationship Id="rId6" Type="http://schemas.openxmlformats.org/officeDocument/2006/relationships/image" Target="../media/image17.png"/><Relationship Id="rId7" Type="http://schemas.openxmlformats.org/officeDocument/2006/relationships/image" Target="../media/image18.png"/><Relationship Id="rId8" Type="http://schemas.openxmlformats.org/officeDocument/2006/relationships/image" Target="../media/image19.png"/><Relationship Id="rId9" Type="http://schemas.openxmlformats.org/officeDocument/2006/relationships/slideLayout" Target="../slideLayouts/slideLayout8.xml"/><Relationship Id="rId10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0.png"/><Relationship Id="rId2" Type="http://schemas.openxmlformats.org/officeDocument/2006/relationships/slideLayout" Target="../slideLayouts/slideLayout9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2.xml"/><Relationship Id="rId3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56;p1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62" name="Google Shape;57;p1"/>
          <p:cNvSpPr/>
          <p:nvPr/>
        </p:nvSpPr>
        <p:spPr>
          <a:xfrm>
            <a:off x="6367320" y="2823840"/>
            <a:ext cx="7381440" cy="13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0fcff"/>
                </a:solidFill>
                <a:latin typeface="Spline Sans"/>
                <a:ea typeface="Spline Sans"/>
              </a:rPr>
              <a:t>Zephyr Workshop – Threads &amp; Workqueues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Google Shape;58;p1"/>
          <p:cNvSpPr/>
          <p:nvPr/>
        </p:nvSpPr>
        <p:spPr>
          <a:xfrm>
            <a:off x="6367320" y="4599720"/>
            <a:ext cx="738144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1000"/>
              </a:lnSpc>
              <a:tabLst>
                <a:tab algn="l" pos="0"/>
              </a:tabLst>
            </a:pPr>
            <a:r>
              <a:rPr b="0" lang="en-US" sz="1950" spc="-1" strike="noStrike">
                <a:solidFill>
                  <a:srgbClr val="e0e4e6"/>
                </a:solidFill>
                <a:latin typeface="Barlow"/>
                <a:ea typeface="Barlow"/>
              </a:rPr>
              <a:t>An in-depth exploration of Zephyr's threading model and workqueue system for efficient embedded application development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"/>
          <p:cNvSpPr/>
          <p:nvPr/>
        </p:nvSpPr>
        <p:spPr>
          <a:xfrm>
            <a:off x="797040" y="626040"/>
            <a:ext cx="4215600" cy="41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2550" spc="-1" strike="noStrike">
                <a:solidFill>
                  <a:srgbClr val="f0fcff"/>
                </a:solidFill>
                <a:latin typeface="Spline Sans"/>
                <a:ea typeface="Spline Sans"/>
              </a:rPr>
              <a:t>What is a Thread in Zephyr?</a:t>
            </a:r>
            <a:endParaRPr b="0" lang="en-US" sz="2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Google Shape;65;p2"/>
          <p:cNvSpPr/>
          <p:nvPr/>
        </p:nvSpPr>
        <p:spPr>
          <a:xfrm>
            <a:off x="797040" y="1954440"/>
            <a:ext cx="6337440" cy="29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71520">
              <a:lnSpc>
                <a:spcPct val="160000"/>
              </a:lnSpc>
              <a:buClr>
                <a:srgbClr val="e0e4e6"/>
              </a:buClr>
              <a:buFont typeface="Barlow"/>
              <a:buChar char="•"/>
            </a:pPr>
            <a:r>
              <a:rPr b="0" lang="en-US" sz="1600" spc="-1" strike="noStrike">
                <a:solidFill>
                  <a:srgbClr val="e0e4e6"/>
                </a:solidFill>
                <a:latin typeface="Barlow"/>
                <a:ea typeface="Barlow"/>
              </a:rPr>
              <a:t>Basic unit of execution in Zephyr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Google Shape;66;p2"/>
          <p:cNvSpPr/>
          <p:nvPr/>
        </p:nvSpPr>
        <p:spPr>
          <a:xfrm>
            <a:off x="797040" y="2302200"/>
            <a:ext cx="6337440" cy="29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71520">
              <a:lnSpc>
                <a:spcPct val="160000"/>
              </a:lnSpc>
              <a:buClr>
                <a:srgbClr val="e0e4e6"/>
              </a:buClr>
              <a:buFont typeface="Barlow"/>
              <a:buChar char="•"/>
            </a:pPr>
            <a:r>
              <a:rPr b="0" lang="en-US" sz="1600" spc="-1" strike="noStrike">
                <a:solidFill>
                  <a:srgbClr val="e0e4e6"/>
                </a:solidFill>
                <a:latin typeface="Barlow"/>
                <a:ea typeface="Barlow"/>
              </a:rPr>
              <a:t>Each thread has: stack, priority, entry point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Google Shape;67;p2"/>
          <p:cNvSpPr/>
          <p:nvPr/>
        </p:nvSpPr>
        <p:spPr>
          <a:xfrm>
            <a:off x="797040" y="2649960"/>
            <a:ext cx="6337440" cy="29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71520">
              <a:lnSpc>
                <a:spcPct val="160000"/>
              </a:lnSpc>
              <a:buClr>
                <a:srgbClr val="e0e4e6"/>
              </a:buClr>
              <a:buFont typeface="Barlow"/>
              <a:buChar char="•"/>
            </a:pPr>
            <a:r>
              <a:rPr b="0" lang="en-US" sz="1600" spc="-1" strike="noStrike">
                <a:solidFill>
                  <a:srgbClr val="e0e4e6"/>
                </a:solidFill>
                <a:latin typeface="Barlow"/>
                <a:ea typeface="Barlow"/>
              </a:rPr>
              <a:t>Can be preemptive or cooperative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Google Shape;68;p2"/>
          <p:cNvSpPr/>
          <p:nvPr/>
        </p:nvSpPr>
        <p:spPr>
          <a:xfrm>
            <a:off x="797040" y="2997720"/>
            <a:ext cx="6337440" cy="29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71520">
              <a:lnSpc>
                <a:spcPct val="160000"/>
              </a:lnSpc>
              <a:buClr>
                <a:srgbClr val="e0e4e6"/>
              </a:buClr>
              <a:buFont typeface="Barlow"/>
              <a:buChar char="•"/>
            </a:pPr>
            <a:r>
              <a:rPr b="0" lang="en-US" sz="1600" spc="-1" strike="noStrike">
                <a:solidFill>
                  <a:srgbClr val="e0e4e6"/>
                </a:solidFill>
                <a:latin typeface="Barlow"/>
                <a:ea typeface="Barlow"/>
              </a:rPr>
              <a:t>Used for independent, long-running tasks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Google Shape;69;p2"/>
          <p:cNvSpPr/>
          <p:nvPr/>
        </p:nvSpPr>
        <p:spPr>
          <a:xfrm>
            <a:off x="797040" y="3426840"/>
            <a:ext cx="6337440" cy="295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58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0" name="Google Shape;70;p2"/>
          <p:cNvSpPr/>
          <p:nvPr/>
        </p:nvSpPr>
        <p:spPr>
          <a:xfrm>
            <a:off x="797040" y="3294000"/>
            <a:ext cx="6337440" cy="295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58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1" name="Google Shape;71;p2"/>
          <p:cNvSpPr/>
          <p:nvPr/>
        </p:nvSpPr>
        <p:spPr>
          <a:xfrm>
            <a:off x="797040" y="4740120"/>
            <a:ext cx="6337440" cy="59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58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0e4e6"/>
                </a:solidFill>
                <a:latin typeface="Barlow"/>
                <a:ea typeface="Barlow"/>
              </a:rPr>
              <a:t>Threads are ideal for independent, long-running tasks that may block or require significant processing time without affecting system responsiveness.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2" name="Google Shape;72;p2" descr="preencoded.png"/>
          <p:cNvPicPr/>
          <p:nvPr/>
        </p:nvPicPr>
        <p:blipFill>
          <a:blip r:embed="rId1"/>
          <a:stretch/>
        </p:blipFill>
        <p:spPr>
          <a:xfrm>
            <a:off x="7503480" y="1425600"/>
            <a:ext cx="6337440" cy="6337440"/>
          </a:xfrm>
          <a:prstGeom prst="rect">
            <a:avLst/>
          </a:prstGeom>
          <a:ln w="0">
            <a:noFill/>
          </a:ln>
        </p:spPr>
      </p:pic>
      <p:sp>
        <p:nvSpPr>
          <p:cNvPr id="73" name="Google Shape;73;p2"/>
          <p:cNvSpPr/>
          <p:nvPr/>
        </p:nvSpPr>
        <p:spPr>
          <a:xfrm>
            <a:off x="7503480" y="7929720"/>
            <a:ext cx="6337440" cy="23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9;p3"/>
          <p:cNvSpPr/>
          <p:nvPr/>
        </p:nvSpPr>
        <p:spPr>
          <a:xfrm>
            <a:off x="873000" y="686880"/>
            <a:ext cx="5527800" cy="51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4000"/>
              </a:lnSpc>
              <a:tabLst>
                <a:tab algn="l" pos="0"/>
              </a:tabLst>
            </a:pPr>
            <a:r>
              <a:rPr b="1" lang="en-US" sz="3250" spc="-1" strike="noStrike">
                <a:solidFill>
                  <a:srgbClr val="f0fcff"/>
                </a:solidFill>
                <a:latin typeface="Spline Sans"/>
                <a:ea typeface="Spline Sans"/>
              </a:rPr>
              <a:t>Thread API Concepts</a:t>
            </a:r>
            <a:endParaRPr b="0" lang="en-US" sz="32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75" name="Google Shape;80;p3" descr="preencoded.png"/>
          <p:cNvPicPr/>
          <p:nvPr/>
        </p:nvPicPr>
        <p:blipFill>
          <a:blip r:embed="rId1"/>
          <a:stretch/>
        </p:blipFill>
        <p:spPr>
          <a:xfrm>
            <a:off x="873000" y="1580400"/>
            <a:ext cx="6441840" cy="748080"/>
          </a:xfrm>
          <a:prstGeom prst="rect">
            <a:avLst/>
          </a:prstGeom>
          <a:ln w="0">
            <a:noFill/>
          </a:ln>
        </p:spPr>
      </p:pic>
      <p:sp>
        <p:nvSpPr>
          <p:cNvPr id="76" name="Google Shape;81;p3"/>
          <p:cNvSpPr/>
          <p:nvPr/>
        </p:nvSpPr>
        <p:spPr>
          <a:xfrm>
            <a:off x="1060200" y="2516040"/>
            <a:ext cx="20782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e4e6"/>
                </a:solidFill>
                <a:latin typeface="Spline Sans"/>
                <a:ea typeface="Spline Sans"/>
              </a:rPr>
              <a:t>Creation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7" name="Google Shape;82;p3"/>
          <p:cNvSpPr/>
          <p:nvPr/>
        </p:nvSpPr>
        <p:spPr>
          <a:xfrm>
            <a:off x="1060200" y="2986200"/>
            <a:ext cx="6067800" cy="579240"/>
          </a:xfrm>
          <a:prstGeom prst="roundRect">
            <a:avLst>
              <a:gd name="adj" fmla="val 48410"/>
            </a:avLst>
          </a:prstGeom>
          <a:solidFill>
            <a:srgbClr val="004d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8" name="Google Shape;83;p3"/>
          <p:cNvSpPr/>
          <p:nvPr/>
        </p:nvSpPr>
        <p:spPr>
          <a:xfrm>
            <a:off x="1050840" y="2986200"/>
            <a:ext cx="6086160" cy="579240"/>
          </a:xfrm>
          <a:prstGeom prst="roundRect">
            <a:avLst>
              <a:gd name="adj" fmla="val 4841"/>
            </a:avLst>
          </a:prstGeom>
          <a:solidFill>
            <a:srgbClr val="004d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79" name="Google Shape;84;p3"/>
          <p:cNvSpPr/>
          <p:nvPr/>
        </p:nvSpPr>
        <p:spPr>
          <a:xfrm>
            <a:off x="1238040" y="3126240"/>
            <a:ext cx="5712120" cy="2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k_thread_create()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0" name="Google Shape;85;p3"/>
          <p:cNvSpPr/>
          <p:nvPr/>
        </p:nvSpPr>
        <p:spPr>
          <a:xfrm>
            <a:off x="1060200" y="3776040"/>
            <a:ext cx="606780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0e4e6"/>
                </a:solidFill>
                <a:latin typeface="Barlow"/>
                <a:ea typeface="Barlow"/>
              </a:rPr>
              <a:t>Runtime thread creation with dynamic allocation. Thread parameters include stack pointer, entry function, and priority.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1" name="Google Shape;86;p3" descr="preencoded.png"/>
          <p:cNvPicPr/>
          <p:nvPr/>
        </p:nvPicPr>
        <p:blipFill>
          <a:blip r:embed="rId2"/>
          <a:stretch/>
        </p:blipFill>
        <p:spPr>
          <a:xfrm>
            <a:off x="7315200" y="1580400"/>
            <a:ext cx="6441840" cy="748080"/>
          </a:xfrm>
          <a:prstGeom prst="rect">
            <a:avLst/>
          </a:prstGeom>
          <a:ln w="0">
            <a:noFill/>
          </a:ln>
        </p:spPr>
      </p:pic>
      <p:sp>
        <p:nvSpPr>
          <p:cNvPr id="82" name="Google Shape;87;p3"/>
          <p:cNvSpPr/>
          <p:nvPr/>
        </p:nvSpPr>
        <p:spPr>
          <a:xfrm>
            <a:off x="7502400" y="2516040"/>
            <a:ext cx="20782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e4e6"/>
                </a:solidFill>
                <a:latin typeface="Spline Sans"/>
                <a:ea typeface="Spline Sans"/>
              </a:rPr>
              <a:t>Definition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3" name="Google Shape;88;p3"/>
          <p:cNvSpPr/>
          <p:nvPr/>
        </p:nvSpPr>
        <p:spPr>
          <a:xfrm>
            <a:off x="7502400" y="2986200"/>
            <a:ext cx="6067800" cy="579240"/>
          </a:xfrm>
          <a:prstGeom prst="roundRect">
            <a:avLst>
              <a:gd name="adj" fmla="val 48410"/>
            </a:avLst>
          </a:prstGeom>
          <a:solidFill>
            <a:srgbClr val="004d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4" name="Google Shape;89;p3"/>
          <p:cNvSpPr/>
          <p:nvPr/>
        </p:nvSpPr>
        <p:spPr>
          <a:xfrm>
            <a:off x="7493040" y="2986200"/>
            <a:ext cx="6086160" cy="579240"/>
          </a:xfrm>
          <a:prstGeom prst="roundRect">
            <a:avLst>
              <a:gd name="adj" fmla="val 4841"/>
            </a:avLst>
          </a:prstGeom>
          <a:solidFill>
            <a:srgbClr val="004d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5" name="Google Shape;90;p3"/>
          <p:cNvSpPr/>
          <p:nvPr/>
        </p:nvSpPr>
        <p:spPr>
          <a:xfrm>
            <a:off x="7679880" y="3126240"/>
            <a:ext cx="5712120" cy="2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K_THREAD_DEFINE()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6" name="Google Shape;91;p3"/>
          <p:cNvSpPr/>
          <p:nvPr/>
        </p:nvSpPr>
        <p:spPr>
          <a:xfrm>
            <a:off x="7502400" y="3776040"/>
            <a:ext cx="606780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0e4e6"/>
                </a:solidFill>
                <a:latin typeface="Barlow"/>
                <a:ea typeface="Barlow"/>
              </a:rPr>
              <a:t>Static thread definition at compile time. Optimizes memory usage and startup performance.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87" name="Google Shape;92;p3" descr="preencoded.png"/>
          <p:cNvPicPr/>
          <p:nvPr/>
        </p:nvPicPr>
        <p:blipFill>
          <a:blip r:embed="rId3"/>
          <a:stretch/>
        </p:blipFill>
        <p:spPr>
          <a:xfrm>
            <a:off x="873000" y="4561560"/>
            <a:ext cx="6441840" cy="748080"/>
          </a:xfrm>
          <a:prstGeom prst="rect">
            <a:avLst/>
          </a:prstGeom>
          <a:ln w="0">
            <a:noFill/>
          </a:ln>
        </p:spPr>
      </p:pic>
      <p:sp>
        <p:nvSpPr>
          <p:cNvPr id="88" name="Google Shape;93;p3"/>
          <p:cNvSpPr/>
          <p:nvPr/>
        </p:nvSpPr>
        <p:spPr>
          <a:xfrm>
            <a:off x="1060200" y="5496840"/>
            <a:ext cx="305460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e4e6"/>
                </a:solidFill>
                <a:latin typeface="Spline Sans"/>
                <a:ea typeface="Spline Sans"/>
              </a:rPr>
              <a:t>Control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89" name="Google Shape;94;p3"/>
          <p:cNvSpPr/>
          <p:nvPr/>
        </p:nvSpPr>
        <p:spPr>
          <a:xfrm>
            <a:off x="1060200" y="5967000"/>
            <a:ext cx="6067800" cy="579240"/>
          </a:xfrm>
          <a:prstGeom prst="roundRect">
            <a:avLst>
              <a:gd name="adj" fmla="val 48410"/>
            </a:avLst>
          </a:prstGeom>
          <a:solidFill>
            <a:srgbClr val="004d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0" name="Google Shape;95;p3"/>
          <p:cNvSpPr/>
          <p:nvPr/>
        </p:nvSpPr>
        <p:spPr>
          <a:xfrm>
            <a:off x="1050840" y="5967000"/>
            <a:ext cx="6086160" cy="579240"/>
          </a:xfrm>
          <a:prstGeom prst="roundRect">
            <a:avLst>
              <a:gd name="adj" fmla="val 4841"/>
            </a:avLst>
          </a:prstGeom>
          <a:solidFill>
            <a:srgbClr val="004d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1" name="Google Shape;96;p3"/>
          <p:cNvSpPr/>
          <p:nvPr/>
        </p:nvSpPr>
        <p:spPr>
          <a:xfrm>
            <a:off x="1238040" y="6107400"/>
            <a:ext cx="5712120" cy="29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k_sleep()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2" name="Google Shape;97;p3"/>
          <p:cNvSpPr/>
          <p:nvPr/>
        </p:nvSpPr>
        <p:spPr>
          <a:xfrm>
            <a:off x="1060200" y="6757200"/>
            <a:ext cx="606780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0e4e6"/>
                </a:solidFill>
                <a:latin typeface="Barlow"/>
                <a:ea typeface="Barlow"/>
              </a:rPr>
              <a:t>Pause thread execution for a specified duration. The scheduler will run other threads during this time.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3" name="Google Shape;98;p3" descr="preencoded.png"/>
          <p:cNvPicPr/>
          <p:nvPr/>
        </p:nvPicPr>
        <p:blipFill>
          <a:blip r:embed="rId4"/>
          <a:stretch/>
        </p:blipFill>
        <p:spPr>
          <a:xfrm>
            <a:off x="7315200" y="4561560"/>
            <a:ext cx="6441840" cy="748080"/>
          </a:xfrm>
          <a:prstGeom prst="rect">
            <a:avLst/>
          </a:prstGeom>
          <a:ln w="0">
            <a:noFill/>
          </a:ln>
        </p:spPr>
      </p:pic>
      <p:sp>
        <p:nvSpPr>
          <p:cNvPr id="94" name="Google Shape;99;p3"/>
          <p:cNvSpPr/>
          <p:nvPr/>
        </p:nvSpPr>
        <p:spPr>
          <a:xfrm>
            <a:off x="7502400" y="5496840"/>
            <a:ext cx="2078280" cy="259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e0e4e6"/>
                </a:solidFill>
                <a:latin typeface="Spline Sans"/>
                <a:ea typeface="Spline Sans"/>
              </a:rPr>
              <a:t>Scheduling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5" name="Google Shape;100;p3"/>
          <p:cNvSpPr/>
          <p:nvPr/>
        </p:nvSpPr>
        <p:spPr>
          <a:xfrm>
            <a:off x="7502400" y="5869080"/>
            <a:ext cx="6067800" cy="59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450" spc="-1" strike="noStrike">
                <a:solidFill>
                  <a:srgbClr val="e0e4e6"/>
                </a:solidFill>
                <a:latin typeface="Barlow"/>
                <a:ea typeface="Barlow"/>
              </a:rPr>
              <a:t>Thread priority determines execution order. Higher priority threads preempt lower priority ones unless cooperative scheduling is used.</a:t>
            </a:r>
            <a:endParaRPr b="0" lang="en-US" sz="14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106;p4"/>
          <p:cNvSpPr/>
          <p:nvPr/>
        </p:nvSpPr>
        <p:spPr>
          <a:xfrm>
            <a:off x="878760" y="690480"/>
            <a:ext cx="7350840" cy="55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4000"/>
              </a:lnSpc>
              <a:tabLst>
                <a:tab algn="l" pos="0"/>
              </a:tabLst>
            </a:pPr>
            <a:r>
              <a:rPr b="1" lang="en-US" sz="3500" spc="-1" strike="noStrike">
                <a:solidFill>
                  <a:srgbClr val="f0fcff"/>
                </a:solidFill>
                <a:latin typeface="Spline Sans"/>
                <a:ea typeface="Spline Sans"/>
              </a:rPr>
              <a:t>Thread States and Transitions</a:t>
            </a:r>
            <a:endParaRPr b="0" lang="en-US" sz="3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97" name="Google Shape;107;p4"/>
          <p:cNvSpPr/>
          <p:nvPr/>
        </p:nvSpPr>
        <p:spPr>
          <a:xfrm>
            <a:off x="878760" y="1750320"/>
            <a:ext cx="277884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2000"/>
              </a:lnSpc>
              <a:tabLst>
                <a:tab algn="l" pos="0"/>
              </a:tabLst>
            </a:pPr>
            <a:r>
              <a:rPr b="1" lang="en-US" sz="1750" spc="-1" strike="noStrike">
                <a:solidFill>
                  <a:srgbClr val="f0fcff"/>
                </a:solidFill>
                <a:latin typeface="Spline Sans"/>
                <a:ea typeface="Spline Sans"/>
              </a:rPr>
              <a:t>Thread State Diagram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98" name="Google Shape;108;p4" descr="preencoded.png"/>
          <p:cNvPicPr/>
          <p:nvPr/>
        </p:nvPicPr>
        <p:blipFill>
          <a:blip r:embed="rId1"/>
          <a:stretch/>
        </p:blipFill>
        <p:spPr>
          <a:xfrm>
            <a:off x="878760" y="2255040"/>
            <a:ext cx="6191280" cy="3924720"/>
          </a:xfrm>
          <a:prstGeom prst="rect">
            <a:avLst/>
          </a:prstGeom>
          <a:ln w="0">
            <a:noFill/>
          </a:ln>
        </p:spPr>
      </p:pic>
      <p:sp>
        <p:nvSpPr>
          <p:cNvPr id="99" name="Google Shape;109;p4"/>
          <p:cNvSpPr/>
          <p:nvPr/>
        </p:nvSpPr>
        <p:spPr>
          <a:xfrm>
            <a:off x="878760" y="6405840"/>
            <a:ext cx="619128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1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0e4e6"/>
                </a:solidFill>
                <a:latin typeface="Barlow"/>
                <a:ea typeface="Barlow"/>
              </a:rPr>
              <a:t>Thread states include: Ready, Running, Pending, and Suspended. Transitions between states are managed by the scheduler based on priority and system events.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0" name="Google Shape;110;p4"/>
          <p:cNvSpPr/>
          <p:nvPr/>
        </p:nvSpPr>
        <p:spPr>
          <a:xfrm>
            <a:off x="7567920" y="1750320"/>
            <a:ext cx="3633480" cy="278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2000"/>
              </a:lnSpc>
              <a:tabLst>
                <a:tab algn="l" pos="0"/>
              </a:tabLst>
            </a:pPr>
            <a:r>
              <a:rPr b="1" lang="en-US" sz="1750" spc="-1" strike="noStrike">
                <a:solidFill>
                  <a:srgbClr val="f0fcff"/>
                </a:solidFill>
                <a:latin typeface="Spline Sans"/>
                <a:ea typeface="Spline Sans"/>
              </a:rPr>
              <a:t>Thread Execution Timeline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01" name="Google Shape;111;p4" descr="preencoded.png"/>
          <p:cNvPicPr/>
          <p:nvPr/>
        </p:nvPicPr>
        <p:blipFill>
          <a:blip r:embed="rId2"/>
          <a:stretch/>
        </p:blipFill>
        <p:spPr>
          <a:xfrm>
            <a:off x="7567920" y="2255040"/>
            <a:ext cx="6191280" cy="2133000"/>
          </a:xfrm>
          <a:prstGeom prst="rect">
            <a:avLst/>
          </a:prstGeom>
          <a:ln w="0">
            <a:noFill/>
          </a:ln>
        </p:spPr>
      </p:pic>
      <p:sp>
        <p:nvSpPr>
          <p:cNvPr id="102" name="Google Shape;112;p4"/>
          <p:cNvSpPr/>
          <p:nvPr/>
        </p:nvSpPr>
        <p:spPr>
          <a:xfrm>
            <a:off x="7567920" y="4614120"/>
            <a:ext cx="6191280" cy="96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1000"/>
              </a:lnSpc>
              <a:tabLst>
                <a:tab algn="l" pos="0"/>
              </a:tabLst>
            </a:pPr>
            <a:r>
              <a:rPr b="0" lang="en-US" sz="1550" spc="-1" strike="noStrike">
                <a:solidFill>
                  <a:srgbClr val="e0e4e6"/>
                </a:solidFill>
                <a:latin typeface="Barlow"/>
                <a:ea typeface="Barlow"/>
              </a:rPr>
              <a:t>Zephyr's preemptive scheduler ensures high-priority threads receive immediate processor time, while cooperative threads voluntarily yield execution.</a:t>
            </a:r>
            <a:endParaRPr b="0" lang="en-US" sz="15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3" name="Google Shape;118;p5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04" name="Google Shape;119;p5"/>
          <p:cNvSpPr/>
          <p:nvPr/>
        </p:nvSpPr>
        <p:spPr>
          <a:xfrm>
            <a:off x="880920" y="1870920"/>
            <a:ext cx="8034480" cy="139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0fcff"/>
                </a:solidFill>
                <a:latin typeface="Spline Sans"/>
                <a:ea typeface="Spline Sans"/>
              </a:rPr>
              <a:t>Basic Synchronization Demo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5" name="Google Shape;120;p5"/>
          <p:cNvSpPr/>
          <p:nvPr/>
        </p:nvSpPr>
        <p:spPr>
          <a:xfrm>
            <a:off x="880920" y="3503160"/>
            <a:ext cx="2796840" cy="34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2200" spc="-1" strike="noStrike">
                <a:solidFill>
                  <a:srgbClr val="f0fcff"/>
                </a:solidFill>
                <a:latin typeface="Spline Sans"/>
                <a:ea typeface="Spline Sans"/>
              </a:rPr>
              <a:t>Running the Demo</a:t>
            </a:r>
            <a:endParaRPr b="0" lang="en-US" sz="22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6" name="Google Shape;121;p5"/>
          <p:cNvSpPr/>
          <p:nvPr/>
        </p:nvSpPr>
        <p:spPr>
          <a:xfrm>
            <a:off x="880920" y="4230360"/>
            <a:ext cx="7381440" cy="1182960"/>
          </a:xfrm>
          <a:prstGeom prst="roundRect">
            <a:avLst>
              <a:gd name="adj" fmla="val 31916"/>
            </a:avLst>
          </a:prstGeom>
          <a:solidFill>
            <a:srgbClr val="004d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7" name="Google Shape;122;p5"/>
          <p:cNvSpPr/>
          <p:nvPr/>
        </p:nvSpPr>
        <p:spPr>
          <a:xfrm>
            <a:off x="868680" y="4230360"/>
            <a:ext cx="7406640" cy="1182960"/>
          </a:xfrm>
          <a:prstGeom prst="roundRect">
            <a:avLst>
              <a:gd name="adj" fmla="val 3192"/>
            </a:avLst>
          </a:prstGeom>
          <a:solidFill>
            <a:srgbClr val="004d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8" name="Google Shape;123;p5"/>
          <p:cNvSpPr/>
          <p:nvPr/>
        </p:nvSpPr>
        <p:spPr>
          <a:xfrm>
            <a:off x="1120320" y="4419000"/>
            <a:ext cx="690300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1000"/>
              </a:lnSpc>
              <a:tabLst>
                <a:tab algn="l" pos="0"/>
              </a:tabLst>
            </a:pPr>
            <a:r>
              <a:rPr b="0" lang="en-US" sz="19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west build -b qemu_x86 samples/synchronization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61000"/>
              </a:lnSpc>
              <a:tabLst>
                <a:tab algn="l" pos="0"/>
              </a:tabLst>
            </a:pPr>
            <a:r>
              <a:rPr b="0" lang="en-US" sz="19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west build -t run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09" name="Google Shape;124;p5"/>
          <p:cNvSpPr/>
          <p:nvPr/>
        </p:nvSpPr>
        <p:spPr>
          <a:xfrm>
            <a:off x="880920" y="5696640"/>
            <a:ext cx="7381440" cy="805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1000"/>
              </a:lnSpc>
              <a:tabLst>
                <a:tab algn="l" pos="0"/>
              </a:tabLst>
            </a:pPr>
            <a:r>
              <a:rPr b="0" lang="en-US" sz="1950" spc="-1" strike="noStrike">
                <a:solidFill>
                  <a:srgbClr val="e0e4e6"/>
                </a:solidFill>
                <a:latin typeface="Barlow"/>
                <a:ea typeface="Barlow"/>
              </a:rPr>
              <a:t>This demo runs on QEMU directly on your development machine, eliminating the need for physical hardware during initial learning.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30;p6"/>
          <p:cNvSpPr/>
          <p:nvPr/>
        </p:nvSpPr>
        <p:spPr>
          <a:xfrm>
            <a:off x="876240" y="688320"/>
            <a:ext cx="8039160" cy="695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4350" spc="-1" strike="noStrike">
                <a:solidFill>
                  <a:srgbClr val="f0fcff"/>
                </a:solidFill>
                <a:latin typeface="Spline Sans"/>
                <a:ea typeface="Spline Sans"/>
              </a:rPr>
              <a:t>What is a Workqueue?</a:t>
            </a:r>
            <a:endParaRPr b="0" lang="en-US" sz="43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1" name="Google Shape;131;p6"/>
          <p:cNvSpPr/>
          <p:nvPr/>
        </p:nvSpPr>
        <p:spPr>
          <a:xfrm>
            <a:off x="428040" y="1884600"/>
            <a:ext cx="3582360" cy="3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>
              <a:lnSpc>
                <a:spcPct val="125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e0e4e6"/>
                </a:solidFill>
                <a:latin typeface="Spline Sans"/>
                <a:ea typeface="Spline Sans"/>
              </a:rPr>
              <a:t>Kernel Object</a:t>
            </a:r>
            <a:endParaRPr b="0" lang="en-US" sz="2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2" name="Google Shape;132;p6"/>
          <p:cNvSpPr/>
          <p:nvPr/>
        </p:nvSpPr>
        <p:spPr>
          <a:xfrm>
            <a:off x="876240" y="2382480"/>
            <a:ext cx="3809520" cy="160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>
              <a:lnSpc>
                <a:spcPct val="161000"/>
              </a:lnSpc>
              <a:tabLst>
                <a:tab algn="l" pos="0"/>
              </a:tabLst>
            </a:pPr>
            <a:r>
              <a:rPr b="0" lang="en-US" sz="1950" spc="-1" strike="noStrike">
                <a:solidFill>
                  <a:srgbClr val="e0e4e6"/>
                </a:solidFill>
                <a:latin typeface="Barlow"/>
                <a:ea typeface="Barlow"/>
              </a:rPr>
              <a:t>A workqueue is a kernel object that uses a dedicated thread to process work items in a FIFO (First In, First Out) manner.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3" name="Google Shape;133;p6" descr="preencoded.png"/>
          <p:cNvPicPr/>
          <p:nvPr/>
        </p:nvPicPr>
        <p:blipFill>
          <a:blip r:embed="rId1"/>
          <a:stretch/>
        </p:blipFill>
        <p:spPr>
          <a:xfrm>
            <a:off x="5061600" y="1918800"/>
            <a:ext cx="4506840" cy="4506840"/>
          </a:xfrm>
          <a:prstGeom prst="rect">
            <a:avLst/>
          </a:prstGeom>
          <a:ln w="0">
            <a:noFill/>
          </a:ln>
        </p:spPr>
      </p:pic>
      <p:pic>
        <p:nvPicPr>
          <p:cNvPr id="114" name="Google Shape;134;p6" descr="preencoded.png"/>
          <p:cNvPicPr/>
          <p:nvPr/>
        </p:nvPicPr>
        <p:blipFill>
          <a:blip r:embed="rId2"/>
          <a:stretch/>
        </p:blipFill>
        <p:spPr>
          <a:xfrm>
            <a:off x="6012360" y="2822760"/>
            <a:ext cx="374040" cy="468000"/>
          </a:xfrm>
          <a:prstGeom prst="rect">
            <a:avLst/>
          </a:prstGeom>
          <a:ln w="0">
            <a:noFill/>
          </a:ln>
        </p:spPr>
      </p:pic>
      <p:sp>
        <p:nvSpPr>
          <p:cNvPr id="115" name="Google Shape;135;p6"/>
          <p:cNvSpPr/>
          <p:nvPr/>
        </p:nvSpPr>
        <p:spPr>
          <a:xfrm>
            <a:off x="9944280" y="2084760"/>
            <a:ext cx="2781360" cy="3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e0e4e6"/>
                </a:solidFill>
                <a:latin typeface="Spline Sans"/>
                <a:ea typeface="Spline Sans"/>
              </a:rPr>
              <a:t>Deferred Execution</a:t>
            </a:r>
            <a:endParaRPr b="0" lang="en-US" sz="2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16" name="Google Shape;136;p6"/>
          <p:cNvSpPr/>
          <p:nvPr/>
        </p:nvSpPr>
        <p:spPr>
          <a:xfrm>
            <a:off x="9944280" y="2582640"/>
            <a:ext cx="3809520" cy="12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1000"/>
              </a:lnSpc>
              <a:tabLst>
                <a:tab algn="l" pos="0"/>
              </a:tabLst>
            </a:pPr>
            <a:r>
              <a:rPr b="0" lang="en-US" sz="1950" spc="-1" strike="noStrike">
                <a:solidFill>
                  <a:srgbClr val="e0e4e6"/>
                </a:solidFill>
                <a:latin typeface="Barlow"/>
                <a:ea typeface="Barlow"/>
              </a:rPr>
              <a:t>Provides a mechanism for scheduling small tasks to run later, often from interrupt context.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17" name="Google Shape;137;p6" descr="preencoded.png"/>
          <p:cNvPicPr/>
          <p:nvPr/>
        </p:nvPicPr>
        <p:blipFill>
          <a:blip r:embed="rId3"/>
          <a:stretch/>
        </p:blipFill>
        <p:spPr>
          <a:xfrm>
            <a:off x="5061600" y="1918800"/>
            <a:ext cx="4506840" cy="4506840"/>
          </a:xfrm>
          <a:prstGeom prst="rect">
            <a:avLst/>
          </a:prstGeom>
          <a:ln w="0">
            <a:noFill/>
          </a:ln>
        </p:spPr>
      </p:pic>
      <p:pic>
        <p:nvPicPr>
          <p:cNvPr id="118" name="Google Shape;138;p6" descr="preencoded.png"/>
          <p:cNvPicPr/>
          <p:nvPr/>
        </p:nvPicPr>
        <p:blipFill>
          <a:blip r:embed="rId4"/>
          <a:stretch/>
        </p:blipFill>
        <p:spPr>
          <a:xfrm>
            <a:off x="8243280" y="2822760"/>
            <a:ext cx="374040" cy="468000"/>
          </a:xfrm>
          <a:prstGeom prst="rect">
            <a:avLst/>
          </a:prstGeom>
          <a:ln w="0">
            <a:noFill/>
          </a:ln>
        </p:spPr>
      </p:pic>
      <p:sp>
        <p:nvSpPr>
          <p:cNvPr id="119" name="Google Shape;139;p6"/>
          <p:cNvSpPr/>
          <p:nvPr/>
        </p:nvSpPr>
        <p:spPr>
          <a:xfrm>
            <a:off x="10592280" y="4560480"/>
            <a:ext cx="2781360" cy="3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e0e4e6"/>
                </a:solidFill>
                <a:latin typeface="Spline Sans"/>
                <a:ea typeface="Spline Sans"/>
              </a:rPr>
              <a:t>Lightweight</a:t>
            </a:r>
            <a:endParaRPr b="0" lang="en-US" sz="2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0" name="Google Shape;140;p6"/>
          <p:cNvSpPr/>
          <p:nvPr/>
        </p:nvSpPr>
        <p:spPr>
          <a:xfrm>
            <a:off x="9944280" y="5058360"/>
            <a:ext cx="3809520" cy="120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1000"/>
              </a:lnSpc>
              <a:tabLst>
                <a:tab algn="l" pos="0"/>
              </a:tabLst>
            </a:pPr>
            <a:r>
              <a:rPr b="0" lang="en-US" sz="1950" spc="-1" strike="noStrike">
                <a:solidFill>
                  <a:srgbClr val="e0e4e6"/>
                </a:solidFill>
                <a:latin typeface="Barlow"/>
                <a:ea typeface="Barlow"/>
              </a:rPr>
              <a:t>Uses significantly less resources than creating separate threads for small, periodic tasks.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1" name="Google Shape;141;p6" descr="preencoded.png"/>
          <p:cNvPicPr/>
          <p:nvPr/>
        </p:nvPicPr>
        <p:blipFill>
          <a:blip r:embed="rId5"/>
          <a:stretch/>
        </p:blipFill>
        <p:spPr>
          <a:xfrm>
            <a:off x="5061600" y="1918800"/>
            <a:ext cx="4506840" cy="4506840"/>
          </a:xfrm>
          <a:prstGeom prst="rect">
            <a:avLst/>
          </a:prstGeom>
          <a:ln w="0">
            <a:noFill/>
          </a:ln>
        </p:spPr>
      </p:pic>
      <p:pic>
        <p:nvPicPr>
          <p:cNvPr id="122" name="Google Shape;142;p6" descr="preencoded.png"/>
          <p:cNvPicPr/>
          <p:nvPr/>
        </p:nvPicPr>
        <p:blipFill>
          <a:blip r:embed="rId6"/>
          <a:stretch/>
        </p:blipFill>
        <p:spPr>
          <a:xfrm>
            <a:off x="8243280" y="5053680"/>
            <a:ext cx="374040" cy="468000"/>
          </a:xfrm>
          <a:prstGeom prst="rect">
            <a:avLst/>
          </a:prstGeom>
          <a:ln w="0">
            <a:noFill/>
          </a:ln>
        </p:spPr>
      </p:pic>
      <p:sp>
        <p:nvSpPr>
          <p:cNvPr id="123" name="Google Shape;143;p6"/>
          <p:cNvSpPr/>
          <p:nvPr/>
        </p:nvSpPr>
        <p:spPr>
          <a:xfrm>
            <a:off x="824040" y="4359960"/>
            <a:ext cx="2781360" cy="347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>
              <a:lnSpc>
                <a:spcPct val="125000"/>
              </a:lnSpc>
              <a:tabLst>
                <a:tab algn="l" pos="0"/>
              </a:tabLst>
            </a:pPr>
            <a:r>
              <a:rPr b="1" lang="en-US" sz="2150" spc="-1" strike="noStrike">
                <a:solidFill>
                  <a:srgbClr val="e0e4e6"/>
                </a:solidFill>
                <a:latin typeface="Spline Sans"/>
                <a:ea typeface="Spline Sans"/>
              </a:rPr>
              <a:t>Efficient</a:t>
            </a:r>
            <a:endParaRPr b="0" lang="en-US" sz="21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24" name="Google Shape;144;p6"/>
          <p:cNvSpPr/>
          <p:nvPr/>
        </p:nvSpPr>
        <p:spPr>
          <a:xfrm>
            <a:off x="876240" y="4857840"/>
            <a:ext cx="3809520" cy="1601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algn="r">
              <a:lnSpc>
                <a:spcPct val="161000"/>
              </a:lnSpc>
              <a:tabLst>
                <a:tab algn="l" pos="0"/>
              </a:tabLst>
            </a:pPr>
            <a:r>
              <a:rPr b="0" lang="en-US" sz="1950" spc="-1" strike="noStrike">
                <a:solidFill>
                  <a:srgbClr val="e0e4e6"/>
                </a:solidFill>
                <a:latin typeface="Barlow"/>
                <a:ea typeface="Barlow"/>
              </a:rPr>
              <a:t>Avoids context switching overhead by batching multiple small tasks into a single thread execution context.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125" name="Google Shape;145;p6" descr="preencoded.png"/>
          <p:cNvPicPr/>
          <p:nvPr/>
        </p:nvPicPr>
        <p:blipFill>
          <a:blip r:embed="rId7"/>
          <a:stretch/>
        </p:blipFill>
        <p:spPr>
          <a:xfrm>
            <a:off x="5061600" y="1918800"/>
            <a:ext cx="4506840" cy="4506840"/>
          </a:xfrm>
          <a:prstGeom prst="rect">
            <a:avLst/>
          </a:prstGeom>
          <a:ln w="0">
            <a:noFill/>
          </a:ln>
        </p:spPr>
      </p:pic>
      <p:pic>
        <p:nvPicPr>
          <p:cNvPr id="126" name="Google Shape;146;p6" descr="preencoded.png"/>
          <p:cNvPicPr/>
          <p:nvPr/>
        </p:nvPicPr>
        <p:blipFill>
          <a:blip r:embed="rId8"/>
          <a:stretch/>
        </p:blipFill>
        <p:spPr>
          <a:xfrm>
            <a:off x="6012360" y="5053680"/>
            <a:ext cx="374040" cy="468000"/>
          </a:xfrm>
          <a:prstGeom prst="rect">
            <a:avLst/>
          </a:prstGeom>
          <a:ln w="0">
            <a:noFill/>
          </a:ln>
        </p:spPr>
      </p:pic>
      <p:sp>
        <p:nvSpPr>
          <p:cNvPr id="127" name="Google Shape;147;p6"/>
          <p:cNvSpPr/>
          <p:nvPr/>
        </p:nvSpPr>
        <p:spPr>
          <a:xfrm>
            <a:off x="876240" y="7046640"/>
            <a:ext cx="12877560" cy="80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1000"/>
              </a:lnSpc>
              <a:tabLst>
                <a:tab algn="l" pos="0"/>
              </a:tabLst>
            </a:pPr>
            <a:r>
              <a:rPr b="0" lang="en-US" sz="1950" spc="-1" strike="noStrike">
                <a:solidFill>
                  <a:srgbClr val="e0e4e6"/>
                </a:solidFill>
                <a:latin typeface="Barlow"/>
                <a:ea typeface="Barlow"/>
              </a:rPr>
              <a:t>Zephyr provides a system workqueue by default, but custom workqueues can be created with different priorities and stack sizes for specialized needs.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8" name="Google Shape;153;p7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29" name="Google Shape;154;p7"/>
          <p:cNvSpPr/>
          <p:nvPr/>
        </p:nvSpPr>
        <p:spPr>
          <a:xfrm>
            <a:off x="880920" y="879120"/>
            <a:ext cx="8263080" cy="62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3950" spc="-1" strike="noStrike">
                <a:solidFill>
                  <a:srgbClr val="f0fcff"/>
                </a:solidFill>
                <a:latin typeface="Spline Sans"/>
                <a:ea typeface="Spline Sans"/>
              </a:rPr>
              <a:t>Workqueue API Concepts</a:t>
            </a:r>
            <a:endParaRPr b="0" lang="en-US" sz="3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0" name="Google Shape;155;p7"/>
          <p:cNvSpPr/>
          <p:nvPr/>
        </p:nvSpPr>
        <p:spPr>
          <a:xfrm>
            <a:off x="880920" y="2074680"/>
            <a:ext cx="251712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f0fcff"/>
                </a:solidFill>
                <a:latin typeface="Spline Sans"/>
                <a:ea typeface="Spline Sans"/>
              </a:rPr>
              <a:t>Work Item Types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1" name="Google Shape;156;p7"/>
          <p:cNvSpPr/>
          <p:nvPr/>
        </p:nvSpPr>
        <p:spPr>
          <a:xfrm>
            <a:off x="880920" y="2616120"/>
            <a:ext cx="3414240" cy="108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7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struct k_work</a:t>
            </a:r>
            <a:r>
              <a:rPr b="0" lang="en-US" sz="1750" spc="-1" strike="noStrike">
                <a:solidFill>
                  <a:srgbClr val="e0e4e6"/>
                </a:solidFill>
                <a:latin typeface="Barlow"/>
                <a:ea typeface="Barlow"/>
              </a:rPr>
              <a:t>: Basic work item for immediate or one-time deferred execution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2" name="Google Shape;157;p7"/>
          <p:cNvSpPr/>
          <p:nvPr/>
        </p:nvSpPr>
        <p:spPr>
          <a:xfrm>
            <a:off x="880920" y="3782520"/>
            <a:ext cx="3414240" cy="1449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7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struct k_work_delayable</a:t>
            </a:r>
            <a:r>
              <a:rPr b="0" lang="en-US" sz="1750" spc="-1" strike="noStrike">
                <a:solidFill>
                  <a:srgbClr val="e0e4e6"/>
                </a:solidFill>
                <a:latin typeface="Barlow"/>
                <a:ea typeface="Barlow"/>
              </a:rPr>
              <a:t>: Enhanced work item that can be scheduled to run after a specified time period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3" name="Google Shape;158;p7"/>
          <p:cNvSpPr/>
          <p:nvPr/>
        </p:nvSpPr>
        <p:spPr>
          <a:xfrm>
            <a:off x="880920" y="5436000"/>
            <a:ext cx="3414240" cy="108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750" spc="-1" strike="noStrike">
                <a:solidFill>
                  <a:srgbClr val="e0e4e6"/>
                </a:solidFill>
                <a:latin typeface="Barlow"/>
                <a:ea typeface="Barlow"/>
              </a:rPr>
              <a:t>Both types execute their handler functions in the context of the workqueue thread.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4" name="Google Shape;159;p7"/>
          <p:cNvSpPr/>
          <p:nvPr/>
        </p:nvSpPr>
        <p:spPr>
          <a:xfrm>
            <a:off x="4856040" y="2074680"/>
            <a:ext cx="2517120" cy="314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1950" spc="-1" strike="noStrike">
                <a:solidFill>
                  <a:srgbClr val="f0fcff"/>
                </a:solidFill>
                <a:latin typeface="Spline Sans"/>
                <a:ea typeface="Spline Sans"/>
              </a:rPr>
              <a:t>Core Functions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5" name="Google Shape;161;p7"/>
          <p:cNvSpPr/>
          <p:nvPr/>
        </p:nvSpPr>
        <p:spPr>
          <a:xfrm rot="21561600">
            <a:off x="4856040" y="2614680"/>
            <a:ext cx="5214240" cy="2151720"/>
          </a:xfrm>
          <a:prstGeom prst="roundRect">
            <a:avLst>
              <a:gd name="adj" fmla="val 1579"/>
            </a:avLst>
          </a:prstGeom>
          <a:solidFill>
            <a:srgbClr val="004d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6" name="Google Shape;162;p7"/>
          <p:cNvSpPr/>
          <p:nvPr/>
        </p:nvSpPr>
        <p:spPr>
          <a:xfrm>
            <a:off x="5071320" y="2814120"/>
            <a:ext cx="7044480" cy="18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7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k_work_init(&amp;work,handler_function);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7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k_work_submit(&amp;work);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7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k_work_schedule(&amp;dwork, K_MSEC(100));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7" name="Google Shape;163;p7"/>
          <p:cNvSpPr/>
          <p:nvPr/>
        </p:nvSpPr>
        <p:spPr>
          <a:xfrm>
            <a:off x="4856040" y="5051160"/>
            <a:ext cx="3414240" cy="7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750" spc="-1" strike="noStrike">
                <a:solidFill>
                  <a:srgbClr val="e0e4e6"/>
                </a:solidFill>
                <a:latin typeface="Barlow"/>
                <a:ea typeface="Barlow"/>
              </a:rPr>
              <a:t>The handler function signature must be: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8" name="Google Shape;164;p7"/>
          <p:cNvSpPr/>
          <p:nvPr/>
        </p:nvSpPr>
        <p:spPr>
          <a:xfrm>
            <a:off x="4856040" y="6031080"/>
            <a:ext cx="3414240" cy="1064160"/>
          </a:xfrm>
          <a:prstGeom prst="roundRect">
            <a:avLst>
              <a:gd name="adj" fmla="val 31924"/>
            </a:avLst>
          </a:prstGeom>
          <a:solidFill>
            <a:srgbClr val="004d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39" name="Google Shape;165;p7"/>
          <p:cNvSpPr/>
          <p:nvPr/>
        </p:nvSpPr>
        <p:spPr>
          <a:xfrm>
            <a:off x="4844520" y="6031080"/>
            <a:ext cx="3436920" cy="1064160"/>
          </a:xfrm>
          <a:prstGeom prst="roundRect">
            <a:avLst>
              <a:gd name="adj" fmla="val 3192"/>
            </a:avLst>
          </a:prstGeom>
          <a:solidFill>
            <a:srgbClr val="004d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0" name="Google Shape;166;p7"/>
          <p:cNvSpPr/>
          <p:nvPr/>
        </p:nvSpPr>
        <p:spPr>
          <a:xfrm>
            <a:off x="5071320" y="6057000"/>
            <a:ext cx="2983680" cy="724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7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void handler(struct k_work *work);</a:t>
            </a:r>
            <a:endParaRPr b="0" lang="en-US" sz="17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72;p8" descr="preencoded.png"/>
          <p:cNvPicPr/>
          <p:nvPr/>
        </p:nvPicPr>
        <p:blipFill>
          <a:blip r:embed="rId1"/>
          <a:stretch/>
        </p:blipFill>
        <p:spPr>
          <a:xfrm>
            <a:off x="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42" name="Google Shape;173;p8"/>
          <p:cNvSpPr/>
          <p:nvPr/>
        </p:nvSpPr>
        <p:spPr>
          <a:xfrm>
            <a:off x="6367320" y="1823040"/>
            <a:ext cx="8491680" cy="6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0fcff"/>
                </a:solidFill>
                <a:latin typeface="Spline Sans"/>
                <a:ea typeface="Spline Sans"/>
              </a:rPr>
              <a:t>Workqueue Implementation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3" name="Google Shape;174;p8"/>
          <p:cNvSpPr/>
          <p:nvPr/>
        </p:nvSpPr>
        <p:spPr>
          <a:xfrm>
            <a:off x="6367320" y="2900160"/>
            <a:ext cx="7381440" cy="201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1000"/>
              </a:lnSpc>
              <a:tabLst>
                <a:tab algn="l" pos="0"/>
              </a:tabLst>
            </a:pPr>
            <a:r>
              <a:rPr b="0" lang="en-US" sz="1950" spc="-1" strike="noStrike">
                <a:solidFill>
                  <a:srgbClr val="e0e4e6"/>
                </a:solidFill>
                <a:latin typeface="Barlow"/>
                <a:ea typeface="Barlow"/>
              </a:rPr>
              <a:t>The diagram illustrates how work items flow through the system. When submitted, they enter a FIFO queue and are processed sequentially by the workqueue thread. Delayable work items are managed by a timing wheel that efficiently tracks when each item should be executed.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4" name="Google Shape;175;p8"/>
          <p:cNvSpPr/>
          <p:nvPr/>
        </p:nvSpPr>
        <p:spPr>
          <a:xfrm>
            <a:off x="6367320" y="5197680"/>
            <a:ext cx="7381440" cy="12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1000"/>
              </a:lnSpc>
              <a:tabLst>
                <a:tab algn="l" pos="0"/>
              </a:tabLst>
            </a:pPr>
            <a:r>
              <a:rPr b="0" lang="en-US" sz="1950" spc="-1" strike="noStrike">
                <a:solidFill>
                  <a:srgbClr val="e0e4e6"/>
                </a:solidFill>
                <a:latin typeface="Barlow"/>
                <a:ea typeface="Barlow"/>
              </a:rPr>
              <a:t>The system workqueue runs at priority 0 (highest) by default, making it suitable for time-sensitive operations that must execute promptly but are too short to justify a dedicated thread.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81;p9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46" name="Google Shape;182;p9"/>
          <p:cNvSpPr/>
          <p:nvPr/>
        </p:nvSpPr>
        <p:spPr>
          <a:xfrm>
            <a:off x="880920" y="2883960"/>
            <a:ext cx="7120080" cy="6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0fcff"/>
                </a:solidFill>
                <a:latin typeface="Spline Sans"/>
                <a:ea typeface="Spline Sans"/>
              </a:rPr>
              <a:t>When to Use Threads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7" name="Google Shape;183;p9"/>
          <p:cNvSpPr/>
          <p:nvPr/>
        </p:nvSpPr>
        <p:spPr>
          <a:xfrm>
            <a:off x="880920" y="3960720"/>
            <a:ext cx="7381440" cy="40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>
              <a:lnSpc>
                <a:spcPct val="161000"/>
              </a:lnSpc>
              <a:buClr>
                <a:srgbClr val="e0e4e6"/>
              </a:buClr>
              <a:buFont typeface="Barlow"/>
              <a:buChar char="•"/>
            </a:pPr>
            <a:r>
              <a:rPr b="0" lang="en-US" sz="1950" spc="-1" strike="noStrike">
                <a:solidFill>
                  <a:srgbClr val="e0e4e6"/>
                </a:solidFill>
                <a:latin typeface="Barlow"/>
                <a:ea typeface="Barlow"/>
              </a:rPr>
              <a:t>Long-running background operations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8" name="Google Shape;184;p9"/>
          <p:cNvSpPr/>
          <p:nvPr/>
        </p:nvSpPr>
        <p:spPr>
          <a:xfrm>
            <a:off x="880920" y="4451760"/>
            <a:ext cx="7381440" cy="40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>
              <a:lnSpc>
                <a:spcPct val="161000"/>
              </a:lnSpc>
              <a:buClr>
                <a:srgbClr val="e0e4e6"/>
              </a:buClr>
              <a:buFont typeface="Barlow"/>
              <a:buChar char="•"/>
            </a:pPr>
            <a:r>
              <a:rPr b="0" lang="en-US" sz="1950" spc="-1" strike="noStrike">
                <a:solidFill>
                  <a:srgbClr val="e0e4e6"/>
                </a:solidFill>
                <a:latin typeface="Barlow"/>
                <a:ea typeface="Barlow"/>
              </a:rPr>
              <a:t>Independent state machines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49" name="Google Shape;185;p9"/>
          <p:cNvSpPr/>
          <p:nvPr/>
        </p:nvSpPr>
        <p:spPr>
          <a:xfrm>
            <a:off x="880920" y="4942800"/>
            <a:ext cx="7381440" cy="40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>
              <a:lnSpc>
                <a:spcPct val="161000"/>
              </a:lnSpc>
              <a:buClr>
                <a:srgbClr val="e0e4e6"/>
              </a:buClr>
              <a:buFont typeface="Barlow"/>
              <a:buChar char="•"/>
            </a:pPr>
            <a:r>
              <a:rPr b="0" lang="en-US" sz="1950" spc="-1" strike="noStrike">
                <a:solidFill>
                  <a:srgbClr val="e0e4e6"/>
                </a:solidFill>
                <a:latin typeface="Barlow"/>
                <a:ea typeface="Barlow"/>
              </a:rPr>
              <a:t>Polling or waiting logic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91;p10"/>
          <p:cNvSpPr/>
          <p:nvPr/>
        </p:nvSpPr>
        <p:spPr>
          <a:xfrm>
            <a:off x="873720" y="688680"/>
            <a:ext cx="8498880" cy="48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4000"/>
              </a:lnSpc>
              <a:tabLst>
                <a:tab algn="l" pos="0"/>
              </a:tabLst>
            </a:pPr>
            <a:r>
              <a:rPr b="1" lang="en-US" sz="3050" spc="-1" strike="noStrike">
                <a:solidFill>
                  <a:srgbClr val="f0fcff"/>
                </a:solidFill>
                <a:latin typeface="Spline Sans"/>
                <a:ea typeface="Spline Sans"/>
              </a:rPr>
              <a:t>When to Use Workqueues</a:t>
            </a:r>
            <a:endParaRPr b="0" lang="en-US" sz="30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1" name="Google Shape;192;p10"/>
          <p:cNvSpPr/>
          <p:nvPr/>
        </p:nvSpPr>
        <p:spPr>
          <a:xfrm>
            <a:off x="873720" y="1632960"/>
            <a:ext cx="392760" cy="392760"/>
          </a:xfrm>
          <a:prstGeom prst="roundRect">
            <a:avLst>
              <a:gd name="adj" fmla="val 66685"/>
            </a:avLst>
          </a:prstGeom>
          <a:solidFill>
            <a:srgbClr val="0a081b"/>
          </a:solidFill>
          <a:ln w="15225">
            <a:solidFill>
              <a:srgbClr val="16ffbb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2" name="Google Shape;193;p10"/>
          <p:cNvSpPr/>
          <p:nvPr/>
        </p:nvSpPr>
        <p:spPr>
          <a:xfrm>
            <a:off x="1441440" y="1692720"/>
            <a:ext cx="32925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6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0e4e6"/>
                </a:solidFill>
                <a:latin typeface="Spline Sans"/>
                <a:ea typeface="Spline Sans"/>
              </a:rPr>
              <a:t>Short, Non-blocking Tasks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3" name="Google Shape;194;p10"/>
          <p:cNvSpPr/>
          <p:nvPr/>
        </p:nvSpPr>
        <p:spPr>
          <a:xfrm>
            <a:off x="1441440" y="2110320"/>
            <a:ext cx="5660280" cy="55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0e4e6"/>
                </a:solidFill>
                <a:latin typeface="Barlow"/>
                <a:ea typeface="Barlow"/>
              </a:rPr>
              <a:t>Brief operations that complete quickly and don't block. Examples include updating status indicators or triggering state changes.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4" name="Google Shape;195;p10"/>
          <p:cNvSpPr/>
          <p:nvPr/>
        </p:nvSpPr>
        <p:spPr>
          <a:xfrm>
            <a:off x="873720" y="3399840"/>
            <a:ext cx="392760" cy="392760"/>
          </a:xfrm>
          <a:prstGeom prst="roundRect">
            <a:avLst>
              <a:gd name="adj" fmla="val 66685"/>
            </a:avLst>
          </a:prstGeom>
          <a:solidFill>
            <a:srgbClr val="0a081b"/>
          </a:solidFill>
          <a:ln w="15225">
            <a:solidFill>
              <a:srgbClr val="29ddda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5" name="Google Shape;196;p10"/>
          <p:cNvSpPr/>
          <p:nvPr/>
        </p:nvSpPr>
        <p:spPr>
          <a:xfrm>
            <a:off x="1441440" y="3459600"/>
            <a:ext cx="244476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6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0e4e6"/>
                </a:solidFill>
                <a:latin typeface="Spline Sans"/>
                <a:ea typeface="Spline Sans"/>
              </a:rPr>
              <a:t>Interrupt Deferral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6" name="Google Shape;197;p10"/>
          <p:cNvSpPr/>
          <p:nvPr/>
        </p:nvSpPr>
        <p:spPr>
          <a:xfrm>
            <a:off x="1441440" y="3877200"/>
            <a:ext cx="5659920" cy="83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0e4e6"/>
                </a:solidFill>
                <a:latin typeface="Barlow"/>
                <a:ea typeface="Barlow"/>
              </a:rPr>
              <a:t>Moving processing out of interrupt context to prevent extended ISR execution. Perfect for sensor data processing, message handling, or flash operations.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7" name="Google Shape;198;p10"/>
          <p:cNvSpPr/>
          <p:nvPr/>
        </p:nvSpPr>
        <p:spPr>
          <a:xfrm>
            <a:off x="873720" y="5598720"/>
            <a:ext cx="392760" cy="392760"/>
          </a:xfrm>
          <a:prstGeom prst="roundRect">
            <a:avLst>
              <a:gd name="adj" fmla="val 66685"/>
            </a:avLst>
          </a:prstGeom>
          <a:solidFill>
            <a:srgbClr val="0a081b"/>
          </a:solidFill>
          <a:ln w="15225">
            <a:solidFill>
              <a:srgbClr val="37a7e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8" name="Google Shape;199;p10"/>
          <p:cNvSpPr/>
          <p:nvPr/>
        </p:nvSpPr>
        <p:spPr>
          <a:xfrm>
            <a:off x="1441440" y="5658480"/>
            <a:ext cx="274320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6000"/>
              </a:lnSpc>
              <a:tabLst>
                <a:tab algn="l" pos="0"/>
              </a:tabLst>
            </a:pPr>
            <a:r>
              <a:rPr b="1" lang="en-US" sz="1800" spc="-1" strike="noStrike">
                <a:solidFill>
                  <a:srgbClr val="e0e4e6"/>
                </a:solidFill>
                <a:latin typeface="Spline Sans"/>
                <a:ea typeface="Spline Sans"/>
              </a:rPr>
              <a:t>Periodic Maintenance</a:t>
            </a:r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59" name="Google Shape;200;p10"/>
          <p:cNvSpPr/>
          <p:nvPr/>
        </p:nvSpPr>
        <p:spPr>
          <a:xfrm>
            <a:off x="1441440" y="6075720"/>
            <a:ext cx="5659920" cy="558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600" spc="-1" strike="noStrike">
                <a:solidFill>
                  <a:srgbClr val="e0e4e6"/>
                </a:solidFill>
                <a:latin typeface="Barlow"/>
                <a:ea typeface="Barlow"/>
              </a:rPr>
              <a:t>Regularly scheduled lightweight tasks like watchdog refreshing, connection keepalives, or system health checks.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0" name="Google Shape;201;p10"/>
          <p:cNvSpPr/>
          <p:nvPr/>
        </p:nvSpPr>
        <p:spPr>
          <a:xfrm>
            <a:off x="7535880" y="1611000"/>
            <a:ext cx="2979720" cy="242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6000"/>
              </a:lnSpc>
              <a:tabLst>
                <a:tab algn="l" pos="0"/>
              </a:tabLst>
            </a:pPr>
            <a:r>
              <a:rPr b="1" lang="en-US" sz="1500" spc="-1" strike="noStrike">
                <a:solidFill>
                  <a:srgbClr val="f0fcff"/>
                </a:solidFill>
                <a:latin typeface="Spline Sans"/>
                <a:ea typeface="Spline Sans"/>
              </a:rPr>
              <a:t>Example Implementation</a:t>
            </a:r>
            <a:endParaRPr b="0" lang="en-US" sz="15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1" name="Google Shape;202;p10"/>
          <p:cNvSpPr/>
          <p:nvPr/>
        </p:nvSpPr>
        <p:spPr>
          <a:xfrm>
            <a:off x="7535880" y="2050200"/>
            <a:ext cx="6228000" cy="5293800"/>
          </a:xfrm>
          <a:prstGeom prst="roundRect">
            <a:avLst>
              <a:gd name="adj" fmla="val 4952"/>
            </a:avLst>
          </a:prstGeom>
          <a:solidFill>
            <a:srgbClr val="004d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2" name="Google Shape;203;p10"/>
          <p:cNvSpPr/>
          <p:nvPr/>
        </p:nvSpPr>
        <p:spPr>
          <a:xfrm>
            <a:off x="7527240" y="2050200"/>
            <a:ext cx="6921000" cy="5293800"/>
          </a:xfrm>
          <a:prstGeom prst="roundRect">
            <a:avLst>
              <a:gd name="adj" fmla="val 495"/>
            </a:avLst>
          </a:prstGeom>
          <a:solidFill>
            <a:srgbClr val="004d3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tIns="91440" bIns="9144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endParaRPr b="0" lang="en-US" sz="1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3" name="Google Shape;204;p10"/>
          <p:cNvSpPr/>
          <p:nvPr/>
        </p:nvSpPr>
        <p:spPr>
          <a:xfrm>
            <a:off x="7701840" y="2181240"/>
            <a:ext cx="6606000" cy="5031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/* Define work item */K_WORK_DEFINE(process_work, process_handler);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/* In ISR */void sensor_isr(void) {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/* Read sensor data */ read_sensor_data();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/* Defer processing to workqueue */k_work_submit(&amp;process_work);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}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/* Work handler */void process_handler(struct k_work *work) {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/* Process data outside ISR context */ analyze_sensor_data(); update_display();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62000"/>
              </a:lnSpc>
              <a:tabLst>
                <a:tab algn="l" pos="0"/>
              </a:tabLst>
            </a:pPr>
            <a:r>
              <a:rPr b="0" lang="en-US" sz="1350" spc="-1" strike="noStrike">
                <a:solidFill>
                  <a:srgbClr val="e0e4e6"/>
                </a:solidFill>
                <a:highlight>
                  <a:srgbClr val="004d36"/>
                </a:highlight>
                <a:latin typeface="Consolas"/>
                <a:ea typeface="Consolas"/>
              </a:rPr>
              <a:t>}</a:t>
            </a:r>
            <a:endParaRPr b="0" lang="en-US" sz="13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81;p 1" descr="preencoded.png"/>
          <p:cNvPicPr/>
          <p:nvPr/>
        </p:nvPicPr>
        <p:blipFill>
          <a:blip r:embed="rId1"/>
          <a:stretch/>
        </p:blipFill>
        <p:spPr>
          <a:xfrm>
            <a:off x="9144000" y="0"/>
            <a:ext cx="5486040" cy="8229240"/>
          </a:xfrm>
          <a:prstGeom prst="rect">
            <a:avLst/>
          </a:prstGeom>
          <a:ln w="0">
            <a:noFill/>
          </a:ln>
        </p:spPr>
      </p:pic>
      <p:sp>
        <p:nvSpPr>
          <p:cNvPr id="165" name="Google Shape;182;p 2"/>
          <p:cNvSpPr/>
          <p:nvPr/>
        </p:nvSpPr>
        <p:spPr>
          <a:xfrm>
            <a:off x="880920" y="2883960"/>
            <a:ext cx="7120080" cy="698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25000"/>
              </a:lnSpc>
              <a:tabLst>
                <a:tab algn="l" pos="0"/>
              </a:tabLst>
            </a:pPr>
            <a:r>
              <a:rPr b="1" lang="en-US" sz="4400" spc="-1" strike="noStrike">
                <a:solidFill>
                  <a:srgbClr val="f0fcff"/>
                </a:solidFill>
                <a:latin typeface="Spline Sans"/>
                <a:ea typeface="Spline Sans"/>
              </a:rPr>
              <a:t>Exercise WorkQueue</a:t>
            </a:r>
            <a:endParaRPr b="0" lang="en-US" sz="44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6" name="Google Shape;183;p 2"/>
          <p:cNvSpPr/>
          <p:nvPr/>
        </p:nvSpPr>
        <p:spPr>
          <a:xfrm>
            <a:off x="880920" y="3960720"/>
            <a:ext cx="7381440" cy="40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>
              <a:lnSpc>
                <a:spcPct val="161000"/>
              </a:lnSpc>
              <a:buClr>
                <a:srgbClr val="e0e4e6"/>
              </a:buClr>
              <a:buFont typeface="Barlow"/>
              <a:buChar char="•"/>
            </a:pPr>
            <a:r>
              <a:rPr b="0" lang="en-US" sz="1950" spc="-1" strike="noStrike">
                <a:solidFill>
                  <a:srgbClr val="e0e4e6"/>
                </a:solidFill>
                <a:latin typeface="Barlow"/>
                <a:ea typeface="Barlow"/>
              </a:rPr>
              <a:t>Use Workqueue to blink the led every 2 seconds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167" name="Google Shape;184;p 2"/>
          <p:cNvSpPr/>
          <p:nvPr/>
        </p:nvSpPr>
        <p:spPr>
          <a:xfrm>
            <a:off x="880920" y="4451760"/>
            <a:ext cx="7381440" cy="402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 marL="343080" indent="-343080">
              <a:lnSpc>
                <a:spcPct val="161000"/>
              </a:lnSpc>
              <a:buClr>
                <a:srgbClr val="e0e4e6"/>
              </a:buClr>
              <a:buFont typeface="Barlow"/>
              <a:buChar char="•"/>
            </a:pPr>
            <a:r>
              <a:rPr b="0" lang="en-US" sz="1950" spc="-1" strike="noStrike">
                <a:solidFill>
                  <a:srgbClr val="e0e4e6"/>
                </a:solidFill>
                <a:latin typeface="Barlow"/>
                <a:ea typeface="Barlow"/>
              </a:rPr>
              <a:t>Extra: stop the led blinking if button was pressed, resume the blinking on another press</a:t>
            </a:r>
            <a:endParaRPr b="0" lang="en-US" sz="195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 pitchFamily="0" charset="1"/>
        <a:ea typeface=""/>
        <a:cs typeface=""/>
      </a:majorFont>
      <a:minorFont>
        <a:latin typeface="Arial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2025-07-03T14:21:26Z</dcterms:created>
  <dc:creator/>
  <dc:description/>
  <dc:language>en-US</dc:language>
  <cp:lastModifiedBy/>
  <dcterms:modified xsi:type="dcterms:W3CDTF">2025-07-08T08:49:13Z</dcterms:modified>
  <cp:revision>2</cp:revision>
  <dc:subject/>
  <dc:title/>
</cp:coreProperties>
</file>