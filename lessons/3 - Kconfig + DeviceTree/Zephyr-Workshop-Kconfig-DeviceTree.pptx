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10.xml" ContentType="application/vnd.openxmlformats-officedocument.theme+xml"/>
  <Override PartName="/ppt/theme/theme9.xml" ContentType="application/vnd.openxmlformats-officedocument.them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19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2.png" ContentType="image/png"/>
  <Override PartName="/ppt/media/image11.png" ContentType="image/png"/>
  <Override PartName="/ppt/media/image17.png" ContentType="image/png"/>
  <Override PartName="/ppt/media/image8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</p:sldMasterIdLst>
  <p:notesMasterIdLst>
    <p:notesMasterId r:id="rId15"/>
  </p:notes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</p:sld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F22848F-FD30-4625-89C5-10C0DBAD720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F34D1DA-43B1-478F-9C57-46E4821FDDF6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8836DF0-98F1-49DC-9BA1-652F9A4B0624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647340A-68D7-4AFE-A113-E2361FFFE43A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27169BD-6620-4DBD-B781-9974ECB4BBB6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89D907B-21F5-4E9F-8C56-0DF75F0AF4F3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8F8FB85-6453-4CED-AC2B-0153CF97B217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BEBE21E-B3B7-449D-97BB-511B5C12DA35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0C803E3-91B2-435F-A080-10C23C3DA653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CB68E05-221D-4EBE-9F98-2F9B689CFCE9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7B423DC-EBD9-4232-AF21-40C2758EBEC0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8007693-DB40-4919-B650-7F71D6D5A9BB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7C6F55F-6EFF-4300-B98E-47DE4FA91ED7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10;p13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29680" cy="8228880"/>
          </a:xfrm>
          <a:prstGeom prst="rect">
            <a:avLst/>
          </a:prstGeom>
          <a:ln w="0">
            <a:noFill/>
          </a:ln>
        </p:spPr>
      </p:pic>
      <p:sp>
        <p:nvSpPr>
          <p:cNvPr id="1" name="Google Shape;11;p13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" name="Google Shape;12;p13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7;p15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29680" cy="8228880"/>
          </a:xfrm>
          <a:prstGeom prst="rect">
            <a:avLst/>
          </a:prstGeom>
          <a:ln w="0">
            <a:noFill/>
          </a:ln>
        </p:spPr>
      </p:pic>
      <p:sp>
        <p:nvSpPr>
          <p:cNvPr id="6" name="Google Shape;18;p15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" name="Google Shape;19;p15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24;p17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29680" cy="8228880"/>
          </a:xfrm>
          <a:prstGeom prst="rect">
            <a:avLst/>
          </a:prstGeom>
          <a:ln w="0">
            <a:noFill/>
          </a:ln>
        </p:spPr>
      </p:pic>
      <p:sp>
        <p:nvSpPr>
          <p:cNvPr id="11" name="Google Shape;25;p17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" name="Google Shape;26;p17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31;p19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29680" cy="8228880"/>
          </a:xfrm>
          <a:prstGeom prst="rect">
            <a:avLst/>
          </a:prstGeom>
          <a:ln w="0">
            <a:noFill/>
          </a:ln>
        </p:spPr>
      </p:pic>
      <p:sp>
        <p:nvSpPr>
          <p:cNvPr id="16" name="Google Shape;32;p19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" name="Google Shape;33;p19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38;p2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29680" cy="8228880"/>
          </a:xfrm>
          <a:prstGeom prst="rect">
            <a:avLst/>
          </a:prstGeom>
          <a:ln w="0">
            <a:noFill/>
          </a:ln>
        </p:spPr>
      </p:pic>
      <p:sp>
        <p:nvSpPr>
          <p:cNvPr id="21" name="Google Shape;39;p2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" name="Google Shape;40;p2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5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45;p23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29680" cy="8228880"/>
          </a:xfrm>
          <a:prstGeom prst="rect">
            <a:avLst/>
          </a:prstGeom>
          <a:ln w="0">
            <a:noFill/>
          </a:ln>
        </p:spPr>
      </p:pic>
      <p:sp>
        <p:nvSpPr>
          <p:cNvPr id="26" name="Google Shape;46;p23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" name="Google Shape;47;p23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ln w="0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5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52;p25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29680" cy="8228880"/>
          </a:xfrm>
          <a:prstGeom prst="rect">
            <a:avLst/>
          </a:prstGeom>
          <a:ln w="0">
            <a:noFill/>
          </a:ln>
        </p:spPr>
      </p:pic>
      <p:sp>
        <p:nvSpPr>
          <p:cNvPr id="31" name="Google Shape;53;p25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2" name="Google Shape;54;p25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5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59;p27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29680" cy="8228880"/>
          </a:xfrm>
          <a:prstGeom prst="rect">
            <a:avLst/>
          </a:prstGeom>
          <a:ln w="0">
            <a:noFill/>
          </a:ln>
        </p:spPr>
      </p:pic>
      <p:sp>
        <p:nvSpPr>
          <p:cNvPr id="36" name="Google Shape;60;p27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7" name="Google Shape;61;p27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ln w="0">
            <a:noFill/>
          </a:ln>
        </p:spPr>
      </p:pic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5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66;p29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29680" cy="8228880"/>
          </a:xfrm>
          <a:prstGeom prst="rect">
            <a:avLst/>
          </a:prstGeom>
          <a:ln w="0">
            <a:noFill/>
          </a:ln>
        </p:spPr>
      </p:pic>
      <p:sp>
        <p:nvSpPr>
          <p:cNvPr id="41" name="Google Shape;67;p29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2" name="Google Shape;68;p29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5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73;p3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29680" cy="8228880"/>
          </a:xfrm>
          <a:prstGeom prst="rect">
            <a:avLst/>
          </a:prstGeom>
          <a:ln w="0">
            <a:noFill/>
          </a:ln>
        </p:spPr>
      </p:pic>
      <p:sp>
        <p:nvSpPr>
          <p:cNvPr id="46" name="Google Shape;74;p3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7" name="Google Shape;75;p3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5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80;p33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29680" cy="8228880"/>
          </a:xfrm>
          <a:prstGeom prst="rect">
            <a:avLst/>
          </a:prstGeom>
          <a:ln w="0">
            <a:noFill/>
          </a:ln>
        </p:spPr>
      </p:pic>
      <p:sp>
        <p:nvSpPr>
          <p:cNvPr id="51" name="Google Shape;81;p33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2" name="Google Shape;82;p33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ln w="0">
            <a:noFill/>
          </a:ln>
        </p:spPr>
      </p:pic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5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87;p35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29680" cy="8228880"/>
          </a:xfrm>
          <a:prstGeom prst="rect">
            <a:avLst/>
          </a:prstGeom>
          <a:ln w="0">
            <a:noFill/>
          </a:ln>
        </p:spPr>
      </p:pic>
      <p:sp>
        <p:nvSpPr>
          <p:cNvPr id="56" name="Google Shape;88;p35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7" name="Google Shape;89;p35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ln w="0">
            <a:noFill/>
          </a:ln>
        </p:spPr>
      </p:pic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5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100;p1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5680" cy="8228880"/>
          </a:xfrm>
          <a:prstGeom prst="rect">
            <a:avLst/>
          </a:prstGeom>
          <a:ln w="0">
            <a:noFill/>
          </a:ln>
        </p:spPr>
      </p:pic>
      <p:sp>
        <p:nvSpPr>
          <p:cNvPr id="67" name="Google Shape;101;p1"/>
          <p:cNvSpPr/>
          <p:nvPr/>
        </p:nvSpPr>
        <p:spPr>
          <a:xfrm>
            <a:off x="6367320" y="3025080"/>
            <a:ext cx="7381080" cy="13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0fcff"/>
                </a:solidFill>
                <a:latin typeface="Spline Sans"/>
                <a:ea typeface="Spline Sans"/>
              </a:rPr>
              <a:t>Zephyr Workshop – Kconfig + DeviceTree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Google Shape;102;p1"/>
          <p:cNvSpPr/>
          <p:nvPr/>
        </p:nvSpPr>
        <p:spPr>
          <a:xfrm>
            <a:off x="6367320" y="4801320"/>
            <a:ext cx="73810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Understanding how Zephyr RTOS configures features and hardware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108;p2"/>
          <p:cNvSpPr/>
          <p:nvPr/>
        </p:nvSpPr>
        <p:spPr>
          <a:xfrm>
            <a:off x="834840" y="655920"/>
            <a:ext cx="4811040" cy="42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83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0fcff"/>
                </a:solidFill>
                <a:latin typeface="Spline Sans"/>
                <a:ea typeface="Spline Sans"/>
              </a:rPr>
              <a:t>What is Kconfig?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Google Shape;109;p2"/>
          <p:cNvSpPr/>
          <p:nvPr/>
        </p:nvSpPr>
        <p:spPr>
          <a:xfrm>
            <a:off x="834840" y="2030400"/>
            <a:ext cx="62906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97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e0e4e6"/>
                </a:solidFill>
                <a:latin typeface="Barlow"/>
                <a:ea typeface="Barlow"/>
              </a:rPr>
              <a:t>Configuration system for: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Google Shape;110;p2"/>
          <p:cNvSpPr/>
          <p:nvPr/>
        </p:nvSpPr>
        <p:spPr>
          <a:xfrm>
            <a:off x="834840" y="2418120"/>
            <a:ext cx="62906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97000"/>
              </a:lnSpc>
              <a:buClr>
                <a:srgbClr val="e0e4e6"/>
              </a:buClr>
              <a:buFont typeface="Noto Sans Symbols"/>
              <a:buChar char="∙"/>
            </a:pPr>
            <a:r>
              <a:rPr b="0" lang="en-US" sz="2000" spc="-1" strike="noStrike">
                <a:solidFill>
                  <a:srgbClr val="e0e4e6"/>
                </a:solidFill>
                <a:latin typeface="Barlow"/>
                <a:ea typeface="Barlow"/>
              </a:rPr>
              <a:t>System features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Google Shape;111;p2"/>
          <p:cNvSpPr/>
          <p:nvPr/>
        </p:nvSpPr>
        <p:spPr>
          <a:xfrm>
            <a:off x="834840" y="2720160"/>
            <a:ext cx="62906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97000"/>
              </a:lnSpc>
              <a:buClr>
                <a:srgbClr val="e0e4e6"/>
              </a:buClr>
              <a:buFont typeface="Noto Sans Symbols"/>
              <a:buChar char="∙"/>
            </a:pPr>
            <a:r>
              <a:rPr b="0" lang="en-US" sz="2000" spc="-1" strike="noStrike">
                <a:solidFill>
                  <a:srgbClr val="e0e4e6"/>
                </a:solidFill>
                <a:latin typeface="Barlow"/>
                <a:ea typeface="Barlow"/>
              </a:rPr>
              <a:t>Drivers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Google Shape;112;p2"/>
          <p:cNvSpPr/>
          <p:nvPr/>
        </p:nvSpPr>
        <p:spPr>
          <a:xfrm>
            <a:off x="834840" y="3022200"/>
            <a:ext cx="62906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97000"/>
              </a:lnSpc>
              <a:buClr>
                <a:srgbClr val="e0e4e6"/>
              </a:buClr>
              <a:buFont typeface="Noto Sans Symbols"/>
              <a:buChar char="∙"/>
            </a:pPr>
            <a:r>
              <a:rPr b="0" lang="en-US" sz="2000" spc="-1" strike="noStrike">
                <a:solidFill>
                  <a:srgbClr val="e0e4e6"/>
                </a:solidFill>
                <a:latin typeface="Barlow"/>
                <a:ea typeface="Barlow"/>
              </a:rPr>
              <a:t>RTOS options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Google Shape;113;p2"/>
          <p:cNvSpPr/>
          <p:nvPr/>
        </p:nvSpPr>
        <p:spPr>
          <a:xfrm>
            <a:off x="834840" y="3409920"/>
            <a:ext cx="62906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97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e0e4e6"/>
                </a:solidFill>
                <a:latin typeface="Barlow"/>
                <a:ea typeface="Barlow"/>
              </a:rPr>
              <a:t>Options start with 'CONFIG_'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5" name="Google Shape;114;p2" descr="preencoded.png"/>
          <p:cNvPicPr/>
          <p:nvPr/>
        </p:nvPicPr>
        <p:blipFill>
          <a:blip r:embed="rId1"/>
          <a:stretch/>
        </p:blipFill>
        <p:spPr>
          <a:xfrm>
            <a:off x="7511760" y="1493280"/>
            <a:ext cx="6290640" cy="6290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120;p3"/>
          <p:cNvSpPr/>
          <p:nvPr/>
        </p:nvSpPr>
        <p:spPr>
          <a:xfrm>
            <a:off x="974520" y="1086840"/>
            <a:ext cx="7173000" cy="69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0fcff"/>
                </a:solidFill>
                <a:latin typeface="Spline Sans"/>
                <a:ea typeface="Spline Sans"/>
              </a:rPr>
              <a:t>Kconfig – How it Works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7" name="Google Shape;121;p3" descr="preencoded.png"/>
          <p:cNvPicPr/>
          <p:nvPr/>
        </p:nvPicPr>
        <p:blipFill>
          <a:blip r:embed="rId1"/>
          <a:stretch/>
        </p:blipFill>
        <p:spPr>
          <a:xfrm>
            <a:off x="880920" y="3166200"/>
            <a:ext cx="4288680" cy="1006200"/>
          </a:xfrm>
          <a:prstGeom prst="rect">
            <a:avLst/>
          </a:prstGeom>
          <a:ln w="0">
            <a:noFill/>
          </a:ln>
        </p:spPr>
      </p:pic>
      <p:sp>
        <p:nvSpPr>
          <p:cNvPr id="78" name="Google Shape;122;p3"/>
          <p:cNvSpPr/>
          <p:nvPr/>
        </p:nvSpPr>
        <p:spPr>
          <a:xfrm>
            <a:off x="1132920" y="4424760"/>
            <a:ext cx="27964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e4e6"/>
                </a:solidFill>
                <a:latin typeface="Spline Sans"/>
                <a:ea typeface="Spline Sans"/>
              </a:rPr>
              <a:t>prj.conf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Google Shape;123;p3"/>
          <p:cNvSpPr/>
          <p:nvPr/>
        </p:nvSpPr>
        <p:spPr>
          <a:xfrm>
            <a:off x="1132920" y="4925520"/>
            <a:ext cx="37854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CONFIG_PRINTK=y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0" name="Google Shape;124;p3" descr="preencoded.png"/>
          <p:cNvPicPr/>
          <p:nvPr/>
        </p:nvPicPr>
        <p:blipFill>
          <a:blip r:embed="rId2"/>
          <a:stretch/>
        </p:blipFill>
        <p:spPr>
          <a:xfrm>
            <a:off x="5170320" y="3166200"/>
            <a:ext cx="4288680" cy="1006200"/>
          </a:xfrm>
          <a:prstGeom prst="rect">
            <a:avLst/>
          </a:prstGeom>
          <a:ln w="0">
            <a:noFill/>
          </a:ln>
        </p:spPr>
      </p:pic>
      <p:sp>
        <p:nvSpPr>
          <p:cNvPr id="81" name="Google Shape;125;p3"/>
          <p:cNvSpPr/>
          <p:nvPr/>
        </p:nvSpPr>
        <p:spPr>
          <a:xfrm>
            <a:off x="5421960" y="4424760"/>
            <a:ext cx="27964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e4e6"/>
                </a:solidFill>
                <a:latin typeface="Spline Sans"/>
                <a:ea typeface="Spline Sans"/>
              </a:rPr>
              <a:t>CMake + Kconfig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Google Shape;126;p3"/>
          <p:cNvSpPr/>
          <p:nvPr/>
        </p:nvSpPr>
        <p:spPr>
          <a:xfrm>
            <a:off x="5421960" y="4925520"/>
            <a:ext cx="37854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Build system processing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3" name="Google Shape;127;p3" descr="preencoded.png"/>
          <p:cNvPicPr/>
          <p:nvPr/>
        </p:nvPicPr>
        <p:blipFill>
          <a:blip r:embed="rId3"/>
          <a:stretch/>
        </p:blipFill>
        <p:spPr>
          <a:xfrm>
            <a:off x="9459720" y="3166200"/>
            <a:ext cx="4288680" cy="1006200"/>
          </a:xfrm>
          <a:prstGeom prst="rect">
            <a:avLst/>
          </a:prstGeom>
          <a:ln w="0">
            <a:noFill/>
          </a:ln>
        </p:spPr>
      </p:pic>
      <p:sp>
        <p:nvSpPr>
          <p:cNvPr id="84" name="Google Shape;128;p3"/>
          <p:cNvSpPr/>
          <p:nvPr/>
        </p:nvSpPr>
        <p:spPr>
          <a:xfrm>
            <a:off x="9711720" y="4424760"/>
            <a:ext cx="27964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e4e6"/>
                </a:solidFill>
                <a:latin typeface="Spline Sans"/>
                <a:ea typeface="Spline Sans"/>
              </a:rPr>
              <a:t>Header Files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Google Shape;129;p3"/>
          <p:cNvSpPr/>
          <p:nvPr/>
        </p:nvSpPr>
        <p:spPr>
          <a:xfrm>
            <a:off x="9711720" y="4925520"/>
            <a:ext cx="37854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Generated configuration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Google Shape;130;p3"/>
          <p:cNvSpPr/>
          <p:nvPr/>
        </p:nvSpPr>
        <p:spPr>
          <a:xfrm>
            <a:off x="880920" y="5863320"/>
            <a:ext cx="128674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Use 'west build -t guiconfig' to explore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136;p4"/>
          <p:cNvSpPr/>
          <p:nvPr/>
        </p:nvSpPr>
        <p:spPr>
          <a:xfrm>
            <a:off x="834840" y="655920"/>
            <a:ext cx="3444480" cy="42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0fcff"/>
                </a:solidFill>
                <a:latin typeface="Spline Sans"/>
                <a:ea typeface="Spline Sans"/>
              </a:rPr>
              <a:t>What is DeviceTree?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Google Shape;137;p4"/>
          <p:cNvSpPr/>
          <p:nvPr/>
        </p:nvSpPr>
        <p:spPr>
          <a:xfrm>
            <a:off x="834840" y="1458360"/>
            <a:ext cx="629064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e0e4e6"/>
                </a:solidFill>
                <a:latin typeface="Barlow"/>
                <a:ea typeface="Barlow"/>
              </a:rPr>
              <a:t>Hardware description language that: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Google Shape;138;p4"/>
          <p:cNvSpPr/>
          <p:nvPr/>
        </p:nvSpPr>
        <p:spPr>
          <a:xfrm>
            <a:off x="834840" y="1908000"/>
            <a:ext cx="629064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93840">
              <a:lnSpc>
                <a:spcPct val="162000"/>
              </a:lnSpc>
              <a:buClr>
                <a:srgbClr val="e0e4e6"/>
              </a:buClr>
              <a:buFont typeface="Noto Sans Symbols"/>
              <a:buChar char="∙"/>
            </a:pPr>
            <a:r>
              <a:rPr b="0" lang="en-US" sz="2000" spc="-1" strike="noStrike">
                <a:solidFill>
                  <a:srgbClr val="e0e4e6"/>
                </a:solidFill>
                <a:latin typeface="Barlow"/>
                <a:ea typeface="Barlow"/>
              </a:rPr>
              <a:t>Describes hardware layout and connections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Google Shape;139;p4"/>
          <p:cNvSpPr/>
          <p:nvPr/>
        </p:nvSpPr>
        <p:spPr>
          <a:xfrm>
            <a:off x="834840" y="2272320"/>
            <a:ext cx="7078680" cy="93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93840">
              <a:lnSpc>
                <a:spcPct val="162000"/>
              </a:lnSpc>
              <a:buClr>
                <a:srgbClr val="e0e4e6"/>
              </a:buClr>
              <a:buFont typeface="Noto Sans Symbols"/>
              <a:buChar char="∙"/>
            </a:pPr>
            <a:r>
              <a:rPr b="0" lang="en-US" sz="2000" spc="-1" strike="noStrike">
                <a:solidFill>
                  <a:srgbClr val="e0e4e6"/>
                </a:solidFill>
                <a:latin typeface="Barlow"/>
                <a:ea typeface="Barlow"/>
              </a:rPr>
              <a:t>Used by Zephyr at build time to generate hardware abstraction code. 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Google Shape;140;p4"/>
          <p:cNvSpPr/>
          <p:nvPr/>
        </p:nvSpPr>
        <p:spPr>
          <a:xfrm>
            <a:off x="834840" y="3257640"/>
            <a:ext cx="629064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93840">
              <a:lnSpc>
                <a:spcPct val="162000"/>
              </a:lnSpc>
              <a:buClr>
                <a:srgbClr val="e0e4e6"/>
              </a:buClr>
              <a:buFont typeface="Noto Sans Symbols"/>
              <a:buChar char="∙"/>
            </a:pPr>
            <a:r>
              <a:rPr b="0" lang="en-US" sz="2000" spc="-1" strike="noStrike">
                <a:solidFill>
                  <a:srgbClr val="e0e4e6"/>
                </a:solidFill>
                <a:latin typeface="Barlow"/>
                <a:ea typeface="Barlow"/>
              </a:rPr>
              <a:t>Files: *.dts (base), *.overlay (app-level override)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2" name="Google Shape;141;p4" descr="preencoded.png"/>
          <p:cNvPicPr/>
          <p:nvPr/>
        </p:nvPicPr>
        <p:blipFill>
          <a:blip r:embed="rId1"/>
          <a:stretch/>
        </p:blipFill>
        <p:spPr>
          <a:xfrm>
            <a:off x="7511760" y="1493280"/>
            <a:ext cx="6290640" cy="6290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147;p5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5680" cy="8228880"/>
          </a:xfrm>
          <a:prstGeom prst="rect">
            <a:avLst/>
          </a:prstGeom>
          <a:ln w="0">
            <a:noFill/>
          </a:ln>
        </p:spPr>
      </p:pic>
      <p:sp>
        <p:nvSpPr>
          <p:cNvPr id="94" name="Google Shape;148;p5"/>
          <p:cNvSpPr/>
          <p:nvPr/>
        </p:nvSpPr>
        <p:spPr>
          <a:xfrm>
            <a:off x="880920" y="1781280"/>
            <a:ext cx="5606280" cy="69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0fcff"/>
                </a:solidFill>
                <a:latin typeface="Spline Sans"/>
                <a:ea typeface="Spline Sans"/>
              </a:rPr>
              <a:t>DeviceTree Concepts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Google Shape;149;p5"/>
          <p:cNvSpPr/>
          <p:nvPr/>
        </p:nvSpPr>
        <p:spPr>
          <a:xfrm>
            <a:off x="880920" y="2858040"/>
            <a:ext cx="3564360" cy="1870200"/>
          </a:xfrm>
          <a:prstGeom prst="roundRect">
            <a:avLst>
              <a:gd name="adj" fmla="val 20186"/>
            </a:avLst>
          </a:prstGeom>
          <a:solidFill>
            <a:srgbClr val="0a081b"/>
          </a:solidFill>
          <a:ln w="30475">
            <a:solidFill>
              <a:srgbClr val="16ff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Google Shape;150;p5"/>
          <p:cNvSpPr/>
          <p:nvPr/>
        </p:nvSpPr>
        <p:spPr>
          <a:xfrm>
            <a:off x="1163160" y="3140280"/>
            <a:ext cx="27964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e4e6"/>
                </a:solidFill>
                <a:latin typeface="Spline Sans"/>
                <a:ea typeface="Spline Sans"/>
              </a:rPr>
              <a:t>Nodes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Google Shape;151;p5"/>
          <p:cNvSpPr/>
          <p:nvPr/>
        </p:nvSpPr>
        <p:spPr>
          <a:xfrm>
            <a:off x="1163160" y="3640680"/>
            <a:ext cx="2999880" cy="80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Hardware blocks (e.g., &amp;gpio0)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Google Shape;152;p5"/>
          <p:cNvSpPr/>
          <p:nvPr/>
        </p:nvSpPr>
        <p:spPr>
          <a:xfrm>
            <a:off x="4698000" y="2858040"/>
            <a:ext cx="3564360" cy="1870200"/>
          </a:xfrm>
          <a:prstGeom prst="roundRect">
            <a:avLst>
              <a:gd name="adj" fmla="val 20186"/>
            </a:avLst>
          </a:prstGeom>
          <a:solidFill>
            <a:srgbClr val="0a081b"/>
          </a:solidFill>
          <a:ln w="30475">
            <a:solidFill>
              <a:srgbClr val="29dd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Google Shape;153;p5"/>
          <p:cNvSpPr/>
          <p:nvPr/>
        </p:nvSpPr>
        <p:spPr>
          <a:xfrm>
            <a:off x="4979880" y="3140280"/>
            <a:ext cx="27964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e4e6"/>
                </a:solidFill>
                <a:latin typeface="Spline Sans"/>
                <a:ea typeface="Spline Sans"/>
              </a:rPr>
              <a:t>Properties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Google Shape;154;p5"/>
          <p:cNvSpPr/>
          <p:nvPr/>
        </p:nvSpPr>
        <p:spPr>
          <a:xfrm>
            <a:off x="4979880" y="3640680"/>
            <a:ext cx="2999880" cy="80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Configuration data (pins, levels)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Google Shape;155;p5"/>
          <p:cNvSpPr/>
          <p:nvPr/>
        </p:nvSpPr>
        <p:spPr>
          <a:xfrm>
            <a:off x="880920" y="4980600"/>
            <a:ext cx="7381080" cy="1467360"/>
          </a:xfrm>
          <a:prstGeom prst="roundRect">
            <a:avLst>
              <a:gd name="adj" fmla="val 25727"/>
            </a:avLst>
          </a:prstGeom>
          <a:solidFill>
            <a:srgbClr val="0a081b"/>
          </a:solidFill>
          <a:ln w="30475">
            <a:solidFill>
              <a:srgbClr val="37a7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Google Shape;156;p5"/>
          <p:cNvSpPr/>
          <p:nvPr/>
        </p:nvSpPr>
        <p:spPr>
          <a:xfrm>
            <a:off x="1163160" y="5262840"/>
            <a:ext cx="27964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e4e6"/>
                </a:solidFill>
                <a:latin typeface="Spline Sans"/>
                <a:ea typeface="Spline Sans"/>
              </a:rPr>
              <a:t>Labels &amp; Aliases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Google Shape;157;p5"/>
          <p:cNvSpPr/>
          <p:nvPr/>
        </p:nvSpPr>
        <p:spPr>
          <a:xfrm>
            <a:off x="1163160" y="5763240"/>
            <a:ext cx="68169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Simplified code access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63;p6"/>
          <p:cNvSpPr/>
          <p:nvPr/>
        </p:nvSpPr>
        <p:spPr>
          <a:xfrm>
            <a:off x="880920" y="1261440"/>
            <a:ext cx="10888920" cy="69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0fcff"/>
                </a:solidFill>
                <a:latin typeface="Spline Sans"/>
                <a:ea typeface="Spline Sans"/>
              </a:rPr>
              <a:t>How Kconfig &amp; DeviceTree Work Together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Google Shape;164;p6"/>
          <p:cNvSpPr/>
          <p:nvPr/>
        </p:nvSpPr>
        <p:spPr>
          <a:xfrm>
            <a:off x="1762200" y="4264200"/>
            <a:ext cx="27964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25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e4e6"/>
                </a:solidFill>
                <a:latin typeface="Spline Sans"/>
                <a:ea typeface="Spline Sans"/>
              </a:rPr>
              <a:t>Kconfig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Google Shape;165;p6"/>
          <p:cNvSpPr/>
          <p:nvPr/>
        </p:nvSpPr>
        <p:spPr>
          <a:xfrm>
            <a:off x="880920" y="4764960"/>
            <a:ext cx="3678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Enables drivers (CONFIG_GPIO=y)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7" name="Google Shape;166;p6" descr="preencoded.png"/>
          <p:cNvPicPr/>
          <p:nvPr/>
        </p:nvPicPr>
        <p:blipFill>
          <a:blip r:embed="rId1"/>
          <a:stretch/>
        </p:blipFill>
        <p:spPr>
          <a:xfrm>
            <a:off x="5063400" y="2464200"/>
            <a:ext cx="4503240" cy="4503240"/>
          </a:xfrm>
          <a:prstGeom prst="rect">
            <a:avLst/>
          </a:prstGeom>
          <a:ln w="0">
            <a:noFill/>
          </a:ln>
        </p:spPr>
      </p:pic>
      <p:pic>
        <p:nvPicPr>
          <p:cNvPr id="108" name="Google Shape;167;p6" descr="preencoded.png"/>
          <p:cNvPicPr/>
          <p:nvPr/>
        </p:nvPicPr>
        <p:blipFill>
          <a:blip r:embed="rId2"/>
          <a:stretch/>
        </p:blipFill>
        <p:spPr>
          <a:xfrm>
            <a:off x="5550480" y="4480920"/>
            <a:ext cx="375840" cy="470160"/>
          </a:xfrm>
          <a:prstGeom prst="rect">
            <a:avLst/>
          </a:prstGeom>
          <a:ln w="0">
            <a:noFill/>
          </a:ln>
        </p:spPr>
      </p:pic>
      <p:sp>
        <p:nvSpPr>
          <p:cNvPr id="109" name="Google Shape;168;p6"/>
          <p:cNvSpPr/>
          <p:nvPr/>
        </p:nvSpPr>
        <p:spPr>
          <a:xfrm>
            <a:off x="9944640" y="2943360"/>
            <a:ext cx="27964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e4e6"/>
                </a:solidFill>
                <a:latin typeface="Spline Sans"/>
                <a:ea typeface="Spline Sans"/>
              </a:rPr>
              <a:t>DeviceTree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Google Shape;169;p6"/>
          <p:cNvSpPr/>
          <p:nvPr/>
        </p:nvSpPr>
        <p:spPr>
          <a:xfrm>
            <a:off x="9944640" y="3443760"/>
            <a:ext cx="3803760" cy="80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Defines hardware (LED on GPIO0, pin 13)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1" name="Google Shape;170;p6" descr="preencoded.png"/>
          <p:cNvPicPr/>
          <p:nvPr/>
        </p:nvPicPr>
        <p:blipFill>
          <a:blip r:embed="rId3"/>
          <a:stretch/>
        </p:blipFill>
        <p:spPr>
          <a:xfrm>
            <a:off x="5063400" y="2464200"/>
            <a:ext cx="4503240" cy="4503240"/>
          </a:xfrm>
          <a:prstGeom prst="rect">
            <a:avLst/>
          </a:prstGeom>
          <a:ln w="0">
            <a:noFill/>
          </a:ln>
        </p:spPr>
      </p:pic>
      <p:pic>
        <p:nvPicPr>
          <p:cNvPr id="112" name="Google Shape;171;p6" descr="preencoded.png"/>
          <p:cNvPicPr/>
          <p:nvPr/>
        </p:nvPicPr>
        <p:blipFill>
          <a:blip r:embed="rId4"/>
          <a:stretch/>
        </p:blipFill>
        <p:spPr>
          <a:xfrm>
            <a:off x="7914960" y="3115440"/>
            <a:ext cx="375840" cy="470160"/>
          </a:xfrm>
          <a:prstGeom prst="rect">
            <a:avLst/>
          </a:prstGeom>
          <a:ln w="0">
            <a:noFill/>
          </a:ln>
        </p:spPr>
      </p:pic>
      <p:sp>
        <p:nvSpPr>
          <p:cNvPr id="113" name="Google Shape;172;p6"/>
          <p:cNvSpPr/>
          <p:nvPr/>
        </p:nvSpPr>
        <p:spPr>
          <a:xfrm>
            <a:off x="9944640" y="5585400"/>
            <a:ext cx="27964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e4e6"/>
                </a:solidFill>
                <a:latin typeface="Spline Sans"/>
                <a:ea typeface="Spline Sans"/>
              </a:rPr>
              <a:t>Application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Google Shape;173;p6"/>
          <p:cNvSpPr/>
          <p:nvPr/>
        </p:nvSpPr>
        <p:spPr>
          <a:xfrm>
            <a:off x="9944640" y="6086160"/>
            <a:ext cx="3803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Uses enabled, defined hardware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5" name="Google Shape;174;p6" descr="preencoded.png"/>
          <p:cNvPicPr/>
          <p:nvPr/>
        </p:nvPicPr>
        <p:blipFill>
          <a:blip r:embed="rId5"/>
          <a:stretch/>
        </p:blipFill>
        <p:spPr>
          <a:xfrm>
            <a:off x="5063400" y="2464200"/>
            <a:ext cx="4503240" cy="4503240"/>
          </a:xfrm>
          <a:prstGeom prst="rect">
            <a:avLst/>
          </a:prstGeom>
          <a:ln w="0">
            <a:noFill/>
          </a:ln>
        </p:spPr>
      </p:pic>
      <p:pic>
        <p:nvPicPr>
          <p:cNvPr id="116" name="Google Shape;175;p6" descr="preencoded.png"/>
          <p:cNvPicPr/>
          <p:nvPr/>
        </p:nvPicPr>
        <p:blipFill>
          <a:blip r:embed="rId6"/>
          <a:stretch/>
        </p:blipFill>
        <p:spPr>
          <a:xfrm>
            <a:off x="7914960" y="5846040"/>
            <a:ext cx="375840" cy="470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81;p7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5680" cy="8228880"/>
          </a:xfrm>
          <a:prstGeom prst="rect">
            <a:avLst/>
          </a:prstGeom>
          <a:ln w="0">
            <a:noFill/>
          </a:ln>
        </p:spPr>
      </p:pic>
      <p:sp>
        <p:nvSpPr>
          <p:cNvPr id="118" name="Google Shape;182;p7"/>
          <p:cNvSpPr/>
          <p:nvPr/>
        </p:nvSpPr>
        <p:spPr>
          <a:xfrm>
            <a:off x="6367320" y="1121760"/>
            <a:ext cx="6327720" cy="69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0fcff"/>
                </a:solidFill>
                <a:latin typeface="Spline Sans"/>
                <a:ea typeface="Spline Sans"/>
              </a:rPr>
              <a:t>Live Example – LED Blink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Google Shape;183;p7"/>
          <p:cNvSpPr/>
          <p:nvPr/>
        </p:nvSpPr>
        <p:spPr>
          <a:xfrm>
            <a:off x="6367320" y="2198520"/>
            <a:ext cx="250920" cy="1509840"/>
          </a:xfrm>
          <a:prstGeom prst="roundRect">
            <a:avLst>
              <a:gd name="adj" fmla="val 150041"/>
            </a:avLst>
          </a:prstGeom>
          <a:solidFill>
            <a:srgbClr val="0a081b"/>
          </a:solidFill>
          <a:ln w="30475">
            <a:solidFill>
              <a:srgbClr val="16ff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Google Shape;184;p7"/>
          <p:cNvSpPr/>
          <p:nvPr/>
        </p:nvSpPr>
        <p:spPr>
          <a:xfrm>
            <a:off x="6870960" y="2450160"/>
            <a:ext cx="28789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e4e6"/>
                </a:solidFill>
                <a:latin typeface="Spline Sans"/>
                <a:ea typeface="Spline Sans"/>
              </a:rPr>
              <a:t>Start with Hello World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Google Shape;185;p7"/>
          <p:cNvSpPr/>
          <p:nvPr/>
        </p:nvSpPr>
        <p:spPr>
          <a:xfrm>
            <a:off x="6870960" y="2950920"/>
            <a:ext cx="68778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Base project structure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Google Shape;186;p7"/>
          <p:cNvSpPr/>
          <p:nvPr/>
        </p:nvSpPr>
        <p:spPr>
          <a:xfrm>
            <a:off x="6744960" y="3897720"/>
            <a:ext cx="250920" cy="1509840"/>
          </a:xfrm>
          <a:prstGeom prst="roundRect">
            <a:avLst>
              <a:gd name="adj" fmla="val 150041"/>
            </a:avLst>
          </a:prstGeom>
          <a:solidFill>
            <a:srgbClr val="0a081b"/>
          </a:solidFill>
          <a:ln w="30475">
            <a:solidFill>
              <a:srgbClr val="29dd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Google Shape;187;p7"/>
          <p:cNvSpPr/>
          <p:nvPr/>
        </p:nvSpPr>
        <p:spPr>
          <a:xfrm>
            <a:off x="7248240" y="4149720"/>
            <a:ext cx="27964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e4e6"/>
                </a:solidFill>
                <a:latin typeface="Spline Sans"/>
                <a:ea typeface="Spline Sans"/>
              </a:rPr>
              <a:t>Edit Files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Google Shape;188;p7"/>
          <p:cNvSpPr/>
          <p:nvPr/>
        </p:nvSpPr>
        <p:spPr>
          <a:xfrm>
            <a:off x="7248240" y="4650120"/>
            <a:ext cx="65001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prj.conf and main.c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Google Shape;189;p7"/>
          <p:cNvSpPr/>
          <p:nvPr/>
        </p:nvSpPr>
        <p:spPr>
          <a:xfrm>
            <a:off x="7122600" y="5597280"/>
            <a:ext cx="250920" cy="1509840"/>
          </a:xfrm>
          <a:prstGeom prst="roundRect">
            <a:avLst>
              <a:gd name="adj" fmla="val 150041"/>
            </a:avLst>
          </a:prstGeom>
          <a:solidFill>
            <a:srgbClr val="0a081b"/>
          </a:solidFill>
          <a:ln w="30475">
            <a:solidFill>
              <a:srgbClr val="37a7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Google Shape;190;p7"/>
          <p:cNvSpPr/>
          <p:nvPr/>
        </p:nvSpPr>
        <p:spPr>
          <a:xfrm>
            <a:off x="7626240" y="5848920"/>
            <a:ext cx="27964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e4e6"/>
                </a:solidFill>
                <a:latin typeface="Spline Sans"/>
                <a:ea typeface="Spline Sans"/>
              </a:rPr>
              <a:t>Add app.overlay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Google Shape;191;p7"/>
          <p:cNvSpPr/>
          <p:nvPr/>
        </p:nvSpPr>
        <p:spPr>
          <a:xfrm>
            <a:off x="7626240" y="6349320"/>
            <a:ext cx="61225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Define LED alias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97;p8"/>
          <p:cNvSpPr/>
          <p:nvPr/>
        </p:nvSpPr>
        <p:spPr>
          <a:xfrm>
            <a:off x="834840" y="655920"/>
            <a:ext cx="3444480" cy="42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0fcff"/>
                </a:solidFill>
                <a:latin typeface="Spline Sans"/>
                <a:ea typeface="Spline Sans"/>
              </a:rPr>
              <a:t>prj.conf – Example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Google Shape;198;p8"/>
          <p:cNvSpPr/>
          <p:nvPr/>
        </p:nvSpPr>
        <p:spPr>
          <a:xfrm>
            <a:off x="842760" y="2089440"/>
            <a:ext cx="6290640" cy="479520"/>
          </a:xfrm>
          <a:prstGeom prst="roundRect">
            <a:avLst>
              <a:gd name="adj" fmla="val 48406"/>
            </a:avLst>
          </a:prstGeom>
          <a:solidFill>
            <a:srgbClr val="004d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Google Shape;199;p8"/>
          <p:cNvSpPr/>
          <p:nvPr/>
        </p:nvSpPr>
        <p:spPr>
          <a:xfrm>
            <a:off x="834840" y="2377440"/>
            <a:ext cx="6306120" cy="479520"/>
          </a:xfrm>
          <a:prstGeom prst="roundRect">
            <a:avLst>
              <a:gd name="adj" fmla="val 4841"/>
            </a:avLst>
          </a:prstGeom>
          <a:solidFill>
            <a:srgbClr val="004d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Google Shape;200;p8"/>
          <p:cNvSpPr/>
          <p:nvPr/>
        </p:nvSpPr>
        <p:spPr>
          <a:xfrm>
            <a:off x="990000" y="2205720"/>
            <a:ext cx="59961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CONFIG_GPIO=y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Google Shape;201;p8"/>
          <p:cNvSpPr/>
          <p:nvPr/>
        </p:nvSpPr>
        <p:spPr>
          <a:xfrm>
            <a:off x="842760" y="3049200"/>
            <a:ext cx="62906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e0e4e6"/>
                </a:solidFill>
                <a:latin typeface="Barlow"/>
                <a:ea typeface="Barlow"/>
              </a:rPr>
              <a:t>Enables the GPIO driver subsystem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3" name="Google Shape;202;p8" descr="preencoded.png"/>
          <p:cNvPicPr/>
          <p:nvPr/>
        </p:nvPicPr>
        <p:blipFill>
          <a:blip r:embed="rId1"/>
          <a:stretch/>
        </p:blipFill>
        <p:spPr>
          <a:xfrm>
            <a:off x="7511760" y="1493280"/>
            <a:ext cx="6290640" cy="6290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208;p9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5680" cy="8228880"/>
          </a:xfrm>
          <a:prstGeom prst="rect">
            <a:avLst/>
          </a:prstGeom>
          <a:ln w="0">
            <a:noFill/>
          </a:ln>
        </p:spPr>
      </p:pic>
      <p:sp>
        <p:nvSpPr>
          <p:cNvPr id="135" name="Google Shape;209;p9"/>
          <p:cNvSpPr/>
          <p:nvPr/>
        </p:nvSpPr>
        <p:spPr>
          <a:xfrm>
            <a:off x="6367320" y="2037240"/>
            <a:ext cx="5862600" cy="69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0fcff"/>
                </a:solidFill>
                <a:latin typeface="Spline Sans"/>
                <a:ea typeface="Spline Sans"/>
              </a:rPr>
              <a:t>app.overlay – Example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Google Shape;210;p9"/>
          <p:cNvSpPr/>
          <p:nvPr/>
        </p:nvSpPr>
        <p:spPr>
          <a:xfrm>
            <a:off x="6367320" y="3114360"/>
            <a:ext cx="7381080" cy="2391120"/>
          </a:xfrm>
          <a:prstGeom prst="roundRect">
            <a:avLst>
              <a:gd name="adj" fmla="val 15788"/>
            </a:avLst>
          </a:prstGeom>
          <a:solidFill>
            <a:srgbClr val="004d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Google Shape;211;p9"/>
          <p:cNvSpPr/>
          <p:nvPr/>
        </p:nvSpPr>
        <p:spPr>
          <a:xfrm>
            <a:off x="6355080" y="3438360"/>
            <a:ext cx="7406280" cy="2391120"/>
          </a:xfrm>
          <a:prstGeom prst="roundRect">
            <a:avLst>
              <a:gd name="adj" fmla="val 1579"/>
            </a:avLst>
          </a:prstGeom>
          <a:solidFill>
            <a:srgbClr val="004d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Google Shape;212;p9"/>
          <p:cNvSpPr/>
          <p:nvPr/>
        </p:nvSpPr>
        <p:spPr>
          <a:xfrm>
            <a:off x="6606720" y="3303000"/>
            <a:ext cx="6902640" cy="20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/ {   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	</a:t>
            </a:r>
            <a:r>
              <a:rPr b="0" lang="en-US" sz="195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aliases </a:t>
            </a:r>
            <a:r>
              <a:rPr b="0" lang="en-US" sz="195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	</a:t>
            </a:r>
            <a:r>
              <a:rPr b="0" lang="en-US" sz="195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{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	</a:t>
            </a:r>
            <a:r>
              <a:rPr b="0" lang="en-US" sz="195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	</a:t>
            </a:r>
            <a:r>
              <a:rPr b="0" lang="en-US" sz="195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  </a:t>
            </a:r>
            <a:r>
              <a:rPr b="0" lang="en-US" sz="195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led0 = &amp;led0; 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	</a:t>
            </a:r>
            <a:r>
              <a:rPr b="0" lang="en-US" sz="195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   </a:t>
            </a:r>
            <a:r>
              <a:rPr b="0" lang="en-US" sz="195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};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};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Google Shape;213;p9"/>
          <p:cNvSpPr/>
          <p:nvPr/>
        </p:nvSpPr>
        <p:spPr>
          <a:xfrm>
            <a:off x="6367320" y="5789160"/>
            <a:ext cx="73810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Defines hardware reference for LED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219;p10"/>
          <p:cNvSpPr/>
          <p:nvPr/>
        </p:nvSpPr>
        <p:spPr>
          <a:xfrm>
            <a:off x="834840" y="655920"/>
            <a:ext cx="4309560" cy="42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0fcff"/>
                </a:solidFill>
                <a:latin typeface="Spline Sans"/>
                <a:ea typeface="Spline Sans"/>
              </a:rPr>
              <a:t>main.c – DeviceTree Usage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Google Shape;220;p10"/>
          <p:cNvSpPr/>
          <p:nvPr/>
        </p:nvSpPr>
        <p:spPr>
          <a:xfrm>
            <a:off x="834840" y="1458360"/>
            <a:ext cx="629064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Google Shape;221;p10"/>
          <p:cNvSpPr/>
          <p:nvPr/>
        </p:nvSpPr>
        <p:spPr>
          <a:xfrm>
            <a:off x="834840" y="1908000"/>
            <a:ext cx="629064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e0e4e6"/>
                </a:solidFill>
                <a:latin typeface="Barlow"/>
                <a:ea typeface="Barlow"/>
              </a:rPr>
              <a:t>Add the code from blinky led sample to main.c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3" name="Google Shape;222;p10" descr="preencoded.png"/>
          <p:cNvPicPr/>
          <p:nvPr/>
        </p:nvPicPr>
        <p:blipFill>
          <a:blip r:embed="rId1"/>
          <a:stretch/>
        </p:blipFill>
        <p:spPr>
          <a:xfrm>
            <a:off x="7511760" y="1493280"/>
            <a:ext cx="6290640" cy="6290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228;p11"/>
          <p:cNvSpPr/>
          <p:nvPr/>
        </p:nvSpPr>
        <p:spPr>
          <a:xfrm>
            <a:off x="874800" y="689040"/>
            <a:ext cx="388692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-US" sz="3050" spc="-1" strike="noStrike">
                <a:solidFill>
                  <a:srgbClr val="f0fcff"/>
                </a:solidFill>
                <a:latin typeface="Spline Sans"/>
                <a:ea typeface="Spline Sans"/>
              </a:rPr>
              <a:t>Run the sample</a:t>
            </a:r>
            <a:endParaRPr b="0" lang="en-US" sz="3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Google Shape;229;p11"/>
          <p:cNvSpPr/>
          <p:nvPr/>
        </p:nvSpPr>
        <p:spPr>
          <a:xfrm>
            <a:off x="874800" y="1594440"/>
            <a:ext cx="622656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84480">
              <a:lnSpc>
                <a:spcPct val="162000"/>
              </a:lnSpc>
              <a:buClr>
                <a:srgbClr val="e0e4e6"/>
              </a:buClr>
              <a:buFont typeface="Noto Sans Symbols"/>
              <a:buChar char="∙"/>
            </a:pPr>
            <a:r>
              <a:rPr b="0" lang="en-US" sz="2000" spc="-1" strike="noStrike">
                <a:solidFill>
                  <a:srgbClr val="e0e4e6"/>
                </a:solidFill>
                <a:latin typeface="Barlow"/>
                <a:ea typeface="Barlow"/>
              </a:rPr>
              <a:t>build and flash on nrf52dk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Google Shape;230;p11"/>
          <p:cNvSpPr/>
          <p:nvPr/>
        </p:nvSpPr>
        <p:spPr>
          <a:xfrm>
            <a:off x="1332000" y="2031840"/>
            <a:ext cx="6226560" cy="55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e0e4e6"/>
                </a:solidFill>
                <a:latin typeface="Barlow"/>
                <a:ea typeface="Barlow"/>
              </a:rPr>
              <a:t>files .dts and  _defconfig from the folder boards/nrf52dk generates the configuration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Google Shape;231;p11"/>
          <p:cNvSpPr/>
          <p:nvPr/>
        </p:nvSpPr>
        <p:spPr>
          <a:xfrm>
            <a:off x="874800" y="3251520"/>
            <a:ext cx="622656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84480">
              <a:lnSpc>
                <a:spcPct val="162000"/>
              </a:lnSpc>
              <a:buClr>
                <a:srgbClr val="e0e4e6"/>
              </a:buClr>
              <a:buFont typeface="Noto Sans Symbols"/>
              <a:buChar char="∙"/>
            </a:pPr>
            <a:r>
              <a:rPr b="0" lang="en-US" sz="2000" spc="-1" strike="noStrike">
                <a:solidFill>
                  <a:srgbClr val="e0e4e6"/>
                </a:solidFill>
                <a:latin typeface="Barlow"/>
                <a:ea typeface="Barlow"/>
              </a:rPr>
              <a:t>Check the file build/zephyr/.config 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Google Shape;232;p11"/>
          <p:cNvSpPr/>
          <p:nvPr/>
        </p:nvSpPr>
        <p:spPr>
          <a:xfrm>
            <a:off x="874800" y="3592440"/>
            <a:ext cx="622656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84480">
              <a:lnSpc>
                <a:spcPct val="162000"/>
              </a:lnSpc>
              <a:buClr>
                <a:srgbClr val="e0e4e6"/>
              </a:buClr>
              <a:buFont typeface="Noto Sans Symbols"/>
              <a:buChar char="∙"/>
            </a:pPr>
            <a:r>
              <a:rPr b="0" lang="en-US" sz="2000" spc="-1" strike="noStrike">
                <a:solidFill>
                  <a:srgbClr val="e0e4e6"/>
                </a:solidFill>
                <a:latin typeface="Barlow"/>
                <a:ea typeface="Barlow"/>
              </a:rPr>
              <a:t>Check the file build/zephyr/zephyr.dts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9" name="Google Shape;233;p11" descr="preencoded.png"/>
          <p:cNvPicPr/>
          <p:nvPr/>
        </p:nvPicPr>
        <p:blipFill>
          <a:blip r:embed="rId1"/>
          <a:stretch/>
        </p:blipFill>
        <p:spPr>
          <a:xfrm>
            <a:off x="8763840" y="1594440"/>
            <a:ext cx="4281840" cy="5709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239;p12"/>
          <p:cNvSpPr/>
          <p:nvPr/>
        </p:nvSpPr>
        <p:spPr>
          <a:xfrm>
            <a:off x="880920" y="2625840"/>
            <a:ext cx="5594040" cy="69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0fcff"/>
                </a:solidFill>
                <a:latin typeface="Spline Sans"/>
                <a:ea typeface="Spline Sans"/>
              </a:rPr>
              <a:t>Explore menuconfig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Google Shape;240;p12"/>
          <p:cNvSpPr/>
          <p:nvPr/>
        </p:nvSpPr>
        <p:spPr>
          <a:xfrm>
            <a:off x="880920" y="3828600"/>
            <a:ext cx="128674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Run: west build -t guiconfig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Google Shape;241;p12"/>
          <p:cNvSpPr/>
          <p:nvPr/>
        </p:nvSpPr>
        <p:spPr>
          <a:xfrm>
            <a:off x="880920" y="4514760"/>
            <a:ext cx="128674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Enable or disable options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Google Shape;242;p12"/>
          <p:cNvSpPr/>
          <p:nvPr/>
        </p:nvSpPr>
        <p:spPr>
          <a:xfrm>
            <a:off x="880920" y="5200920"/>
            <a:ext cx="128674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Compare output with build/zephyr/.config now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2025-07-02T15:32:22Z</dcterms:created>
  <dc:creator/>
  <dc:description/>
  <dc:language>en-US</dc:language>
  <cp:lastModifiedBy/>
  <dcterms:modified xsi:type="dcterms:W3CDTF">2025-07-09T12:46:20Z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